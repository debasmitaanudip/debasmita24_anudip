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8" r:id="rId8"/>
    <p:sldId id="269" r:id="rId9"/>
    <p:sldId id="270" r:id="rId10"/>
    <p:sldId id="271" r:id="rId11"/>
    <p:sldId id="272" r:id="rId12"/>
    <p:sldId id="273" r:id="rId13"/>
    <p:sldId id="274" r:id="rId14"/>
    <p:sldId id="266" r:id="rId15"/>
    <p:sldId id="262" r:id="rId16"/>
    <p:sldId id="263" r:id="rId17"/>
    <p:sldId id="265" r:id="rId18"/>
    <p:sldId id="26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1EB2"/>
    <a:srgbClr val="723E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3" d="100"/>
          <a:sy n="63" d="100"/>
        </p:scale>
        <p:origin x="76"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asmita Pathak" userId="18e3290007f0b84d" providerId="LiveId" clId="{27F883E4-E1D7-42D3-A890-C827AF17CF32}"/>
    <pc:docChg chg="undo redo custSel addSld delSld modSld">
      <pc:chgData name="Debasmita Pathak" userId="18e3290007f0b84d" providerId="LiveId" clId="{27F883E4-E1D7-42D3-A890-C827AF17CF32}" dt="2026-07-17T06:21:31.228" v="2256" actId="14100"/>
      <pc:docMkLst>
        <pc:docMk/>
      </pc:docMkLst>
      <pc:sldChg chg="modSp mod">
        <pc:chgData name="Debasmita Pathak" userId="18e3290007f0b84d" providerId="LiveId" clId="{27F883E4-E1D7-42D3-A890-C827AF17CF32}" dt="2026-07-15T18:39:03.586" v="523" actId="14100"/>
        <pc:sldMkLst>
          <pc:docMk/>
          <pc:sldMk cId="4056550724" sldId="256"/>
        </pc:sldMkLst>
        <pc:spChg chg="mod">
          <ac:chgData name="Debasmita Pathak" userId="18e3290007f0b84d" providerId="LiveId" clId="{27F883E4-E1D7-42D3-A890-C827AF17CF32}" dt="2026-07-15T18:39:03.586" v="523" actId="14100"/>
          <ac:spMkLst>
            <pc:docMk/>
            <pc:sldMk cId="4056550724" sldId="256"/>
            <ac:spMk id="2" creationId="{6DC54527-8B16-DFEC-E3B4-76607C460335}"/>
          </ac:spMkLst>
        </pc:spChg>
        <pc:spChg chg="mod">
          <ac:chgData name="Debasmita Pathak" userId="18e3290007f0b84d" providerId="LiveId" clId="{27F883E4-E1D7-42D3-A890-C827AF17CF32}" dt="2026-07-15T18:38:38.135" v="519" actId="1076"/>
          <ac:spMkLst>
            <pc:docMk/>
            <pc:sldMk cId="4056550724" sldId="256"/>
            <ac:spMk id="3" creationId="{5CF92F26-BB8C-423B-BF4A-3F097DF24775}"/>
          </ac:spMkLst>
        </pc:spChg>
        <pc:picChg chg="mod">
          <ac:chgData name="Debasmita Pathak" userId="18e3290007f0b84d" providerId="LiveId" clId="{27F883E4-E1D7-42D3-A890-C827AF17CF32}" dt="2026-07-15T18:38:32.732" v="518" actId="1076"/>
          <ac:picMkLst>
            <pc:docMk/>
            <pc:sldMk cId="4056550724" sldId="256"/>
            <ac:picMk id="7" creationId="{F5FB4723-E676-8912-1081-680E20742BEF}"/>
          </ac:picMkLst>
        </pc:picChg>
      </pc:sldChg>
      <pc:sldChg chg="modSp mod">
        <pc:chgData name="Debasmita Pathak" userId="18e3290007f0b84d" providerId="LiveId" clId="{27F883E4-E1D7-42D3-A890-C827AF17CF32}" dt="2026-07-15T19:44:27.160" v="1598" actId="1076"/>
        <pc:sldMkLst>
          <pc:docMk/>
          <pc:sldMk cId="3613498538" sldId="257"/>
        </pc:sldMkLst>
        <pc:spChg chg="mod">
          <ac:chgData name="Debasmita Pathak" userId="18e3290007f0b84d" providerId="LiveId" clId="{27F883E4-E1D7-42D3-A890-C827AF17CF32}" dt="2026-07-15T19:44:27.160" v="1598" actId="1076"/>
          <ac:spMkLst>
            <pc:docMk/>
            <pc:sldMk cId="3613498538" sldId="257"/>
            <ac:spMk id="15" creationId="{2D71D41A-1766-233E-D6C9-7E35C3CCE5B5}"/>
          </ac:spMkLst>
        </pc:spChg>
        <pc:spChg chg="mod">
          <ac:chgData name="Debasmita Pathak" userId="18e3290007f0b84d" providerId="LiveId" clId="{27F883E4-E1D7-42D3-A890-C827AF17CF32}" dt="2026-07-15T17:27:50.332" v="293" actId="404"/>
          <ac:spMkLst>
            <pc:docMk/>
            <pc:sldMk cId="3613498538" sldId="257"/>
            <ac:spMk id="20" creationId="{89A9F2EA-F961-FABE-DC74-A38090145882}"/>
          </ac:spMkLst>
        </pc:spChg>
        <pc:spChg chg="mod">
          <ac:chgData name="Debasmita Pathak" userId="18e3290007f0b84d" providerId="LiveId" clId="{27F883E4-E1D7-42D3-A890-C827AF17CF32}" dt="2026-07-15T17:26:20.635" v="246" actId="20577"/>
          <ac:spMkLst>
            <pc:docMk/>
            <pc:sldMk cId="3613498538" sldId="257"/>
            <ac:spMk id="28" creationId="{B7D7E9A7-2BBD-5972-DD15-9048808F360C}"/>
          </ac:spMkLst>
        </pc:spChg>
        <pc:spChg chg="mod">
          <ac:chgData name="Debasmita Pathak" userId="18e3290007f0b84d" providerId="LiveId" clId="{27F883E4-E1D7-42D3-A890-C827AF17CF32}" dt="2026-07-15T17:26:50.118" v="256" actId="404"/>
          <ac:spMkLst>
            <pc:docMk/>
            <pc:sldMk cId="3613498538" sldId="257"/>
            <ac:spMk id="32" creationId="{D78DFF48-8718-CE4D-2278-4D78C3B08739}"/>
          </ac:spMkLst>
        </pc:spChg>
        <pc:spChg chg="mod">
          <ac:chgData name="Debasmita Pathak" userId="18e3290007f0b84d" providerId="LiveId" clId="{27F883E4-E1D7-42D3-A890-C827AF17CF32}" dt="2026-07-15T17:27:31.626" v="272" actId="20577"/>
          <ac:spMkLst>
            <pc:docMk/>
            <pc:sldMk cId="3613498538" sldId="257"/>
            <ac:spMk id="34" creationId="{25621ACF-54C0-41C8-B23C-A49A055F58E6}"/>
          </ac:spMkLst>
        </pc:spChg>
      </pc:sldChg>
      <pc:sldChg chg="addSp delSp modSp mod">
        <pc:chgData name="Debasmita Pathak" userId="18e3290007f0b84d" providerId="LiveId" clId="{27F883E4-E1D7-42D3-A890-C827AF17CF32}" dt="2026-07-15T16:33:07.583" v="29" actId="1076"/>
        <pc:sldMkLst>
          <pc:docMk/>
          <pc:sldMk cId="290765448" sldId="258"/>
        </pc:sldMkLst>
        <pc:spChg chg="add mod">
          <ac:chgData name="Debasmita Pathak" userId="18e3290007f0b84d" providerId="LiveId" clId="{27F883E4-E1D7-42D3-A890-C827AF17CF32}" dt="2026-07-15T16:32:55.693" v="27" actId="255"/>
          <ac:spMkLst>
            <pc:docMk/>
            <pc:sldMk cId="290765448" sldId="258"/>
            <ac:spMk id="6" creationId="{1870402B-0F60-C8D9-DA8B-F794BE727966}"/>
          </ac:spMkLst>
        </pc:spChg>
        <pc:picChg chg="add mod">
          <ac:chgData name="Debasmita Pathak" userId="18e3290007f0b84d" providerId="LiveId" clId="{27F883E4-E1D7-42D3-A890-C827AF17CF32}" dt="2026-07-15T16:33:07.583" v="29" actId="1076"/>
          <ac:picMkLst>
            <pc:docMk/>
            <pc:sldMk cId="290765448" sldId="258"/>
            <ac:picMk id="5" creationId="{AC396FB7-B81A-F819-7B4E-CD4D38E0C3FD}"/>
          </ac:picMkLst>
        </pc:picChg>
      </pc:sldChg>
      <pc:sldChg chg="addSp delSp modSp new mod">
        <pc:chgData name="Debasmita Pathak" userId="18e3290007f0b84d" providerId="LiveId" clId="{27F883E4-E1D7-42D3-A890-C827AF17CF32}" dt="2026-07-15T17:24:55.203" v="232" actId="207"/>
        <pc:sldMkLst>
          <pc:docMk/>
          <pc:sldMk cId="2118970667" sldId="259"/>
        </pc:sldMkLst>
        <pc:spChg chg="mod">
          <ac:chgData name="Debasmita Pathak" userId="18e3290007f0b84d" providerId="LiveId" clId="{27F883E4-E1D7-42D3-A890-C827AF17CF32}" dt="2026-07-15T16:34:24.651" v="134" actId="122"/>
          <ac:spMkLst>
            <pc:docMk/>
            <pc:sldMk cId="2118970667" sldId="259"/>
            <ac:spMk id="2" creationId="{056F8F27-FF58-5887-DD16-5E4351EA4301}"/>
          </ac:spMkLst>
        </pc:spChg>
        <pc:spChg chg="add del mod">
          <ac:chgData name="Debasmita Pathak" userId="18e3290007f0b84d" providerId="LiveId" clId="{27F883E4-E1D7-42D3-A890-C827AF17CF32}" dt="2026-07-15T17:24:40.404" v="228" actId="207"/>
          <ac:spMkLst>
            <pc:docMk/>
            <pc:sldMk cId="2118970667" sldId="259"/>
            <ac:spMk id="9" creationId="{CCBBFB47-8659-EF47-1A62-40E081B31635}"/>
          </ac:spMkLst>
        </pc:spChg>
        <pc:spChg chg="add mod">
          <ac:chgData name="Debasmita Pathak" userId="18e3290007f0b84d" providerId="LiveId" clId="{27F883E4-E1D7-42D3-A890-C827AF17CF32}" dt="2026-07-15T17:24:44.531" v="229" actId="207"/>
          <ac:spMkLst>
            <pc:docMk/>
            <pc:sldMk cId="2118970667" sldId="259"/>
            <ac:spMk id="15" creationId="{F0502319-0E8B-3711-EE2C-D871D324054F}"/>
          </ac:spMkLst>
        </pc:spChg>
        <pc:spChg chg="add mod">
          <ac:chgData name="Debasmita Pathak" userId="18e3290007f0b84d" providerId="LiveId" clId="{27F883E4-E1D7-42D3-A890-C827AF17CF32}" dt="2026-07-15T17:24:48.308" v="230" actId="207"/>
          <ac:spMkLst>
            <pc:docMk/>
            <pc:sldMk cId="2118970667" sldId="259"/>
            <ac:spMk id="17" creationId="{F6ACC6CB-B5F5-CB89-EA89-1F548CE7174C}"/>
          </ac:spMkLst>
        </pc:spChg>
        <pc:spChg chg="add mod">
          <ac:chgData name="Debasmita Pathak" userId="18e3290007f0b84d" providerId="LiveId" clId="{27F883E4-E1D7-42D3-A890-C827AF17CF32}" dt="2026-07-15T17:24:52.305" v="231" actId="207"/>
          <ac:spMkLst>
            <pc:docMk/>
            <pc:sldMk cId="2118970667" sldId="259"/>
            <ac:spMk id="19" creationId="{671F49E6-AE0A-EB5E-7B00-D77BA63F019B}"/>
          </ac:spMkLst>
        </pc:spChg>
        <pc:spChg chg="add mod">
          <ac:chgData name="Debasmita Pathak" userId="18e3290007f0b84d" providerId="LiveId" clId="{27F883E4-E1D7-42D3-A890-C827AF17CF32}" dt="2026-07-15T17:24:55.203" v="232" actId="207"/>
          <ac:spMkLst>
            <pc:docMk/>
            <pc:sldMk cId="2118970667" sldId="259"/>
            <ac:spMk id="21" creationId="{E160EDE0-E861-4BC3-3139-24F1848A56FD}"/>
          </ac:spMkLst>
        </pc:spChg>
        <pc:picChg chg="add mod">
          <ac:chgData name="Debasmita Pathak" userId="18e3290007f0b84d" providerId="LiveId" clId="{27F883E4-E1D7-42D3-A890-C827AF17CF32}" dt="2026-07-15T17:16:16.747" v="157" actId="1076"/>
          <ac:picMkLst>
            <pc:docMk/>
            <pc:sldMk cId="2118970667" sldId="259"/>
            <ac:picMk id="8" creationId="{2B9026B3-BEBE-7317-DDAB-85161098A097}"/>
          </ac:picMkLst>
        </pc:picChg>
      </pc:sldChg>
      <pc:sldChg chg="addSp delSp modSp new mod">
        <pc:chgData name="Debasmita Pathak" userId="18e3290007f0b84d" providerId="LiveId" clId="{27F883E4-E1D7-42D3-A890-C827AF17CF32}" dt="2026-07-15T18:50:39.039" v="1195" actId="14734"/>
        <pc:sldMkLst>
          <pc:docMk/>
          <pc:sldMk cId="3996968444" sldId="260"/>
        </pc:sldMkLst>
        <pc:spChg chg="mod">
          <ac:chgData name="Debasmita Pathak" userId="18e3290007f0b84d" providerId="LiveId" clId="{27F883E4-E1D7-42D3-A890-C827AF17CF32}" dt="2026-07-15T17:28:15.203" v="312" actId="122"/>
          <ac:spMkLst>
            <pc:docMk/>
            <pc:sldMk cId="3996968444" sldId="260"/>
            <ac:spMk id="2" creationId="{1146DCA9-A53E-3BA3-C461-179C40A1772D}"/>
          </ac:spMkLst>
        </pc:spChg>
        <pc:spChg chg="add del mod">
          <ac:chgData name="Debasmita Pathak" userId="18e3290007f0b84d" providerId="LiveId" clId="{27F883E4-E1D7-42D3-A890-C827AF17CF32}" dt="2026-07-15T18:41:51.145" v="570" actId="113"/>
          <ac:spMkLst>
            <pc:docMk/>
            <pc:sldMk cId="3996968444" sldId="260"/>
            <ac:spMk id="7" creationId="{CD02C513-FAF1-07A4-0D52-F50EE4BAA66C}"/>
          </ac:spMkLst>
        </pc:spChg>
        <pc:graphicFrameChg chg="add mod modGraphic">
          <ac:chgData name="Debasmita Pathak" userId="18e3290007f0b84d" providerId="LiveId" clId="{27F883E4-E1D7-42D3-A890-C827AF17CF32}" dt="2026-07-15T18:50:39.039" v="1195" actId="14734"/>
          <ac:graphicFrameMkLst>
            <pc:docMk/>
            <pc:sldMk cId="3996968444" sldId="260"/>
            <ac:graphicFrameMk id="17" creationId="{9EA50B2D-D6D3-CF5D-77A5-DF8A4FDCDBDE}"/>
          </ac:graphicFrameMkLst>
        </pc:graphicFrameChg>
        <pc:picChg chg="add mod">
          <ac:chgData name="Debasmita Pathak" userId="18e3290007f0b84d" providerId="LiveId" clId="{27F883E4-E1D7-42D3-A890-C827AF17CF32}" dt="2026-07-15T17:32:51.722" v="489"/>
          <ac:picMkLst>
            <pc:docMk/>
            <pc:sldMk cId="3996968444" sldId="260"/>
            <ac:picMk id="5" creationId="{8E7BB1DC-D96C-9F28-8696-17ABACE89D54}"/>
          </ac:picMkLst>
        </pc:picChg>
      </pc:sldChg>
      <pc:sldChg chg="addSp delSp modSp new mod">
        <pc:chgData name="Debasmita Pathak" userId="18e3290007f0b84d" providerId="LiveId" clId="{27F883E4-E1D7-42D3-A890-C827AF17CF32}" dt="2026-07-17T06:17:51.064" v="2241" actId="12"/>
        <pc:sldMkLst>
          <pc:docMk/>
          <pc:sldMk cId="2707780344" sldId="261"/>
        </pc:sldMkLst>
        <pc:spChg chg="mod">
          <ac:chgData name="Debasmita Pathak" userId="18e3290007f0b84d" providerId="LiveId" clId="{27F883E4-E1D7-42D3-A890-C827AF17CF32}" dt="2026-07-15T18:47:33.816" v="619" actId="20577"/>
          <ac:spMkLst>
            <pc:docMk/>
            <pc:sldMk cId="2707780344" sldId="261"/>
            <ac:spMk id="2" creationId="{744C8111-6D0D-1B5F-3B31-182CBACD1682}"/>
          </ac:spMkLst>
        </pc:spChg>
        <pc:spChg chg="add mod">
          <ac:chgData name="Debasmita Pathak" userId="18e3290007f0b84d" providerId="LiveId" clId="{27F883E4-E1D7-42D3-A890-C827AF17CF32}" dt="2026-07-17T06:17:51.064" v="2241" actId="12"/>
          <ac:spMkLst>
            <pc:docMk/>
            <pc:sldMk cId="2707780344" sldId="261"/>
            <ac:spMk id="3" creationId="{30196F4B-D8CB-3341-CD72-4F7BE49D323E}"/>
          </ac:spMkLst>
        </pc:spChg>
        <pc:spChg chg="add mod">
          <ac:chgData name="Debasmita Pathak" userId="18e3290007f0b84d" providerId="LiveId" clId="{27F883E4-E1D7-42D3-A890-C827AF17CF32}" dt="2026-07-15T18:51:36.249" v="1199" actId="14100"/>
          <ac:spMkLst>
            <pc:docMk/>
            <pc:sldMk cId="2707780344" sldId="261"/>
            <ac:spMk id="4" creationId="{F0400C90-5E2F-E5F0-7C4D-5C8EBE7F6F66}"/>
          </ac:spMkLst>
        </pc:spChg>
        <pc:spChg chg="add mod">
          <ac:chgData name="Debasmita Pathak" userId="18e3290007f0b84d" providerId="LiveId" clId="{27F883E4-E1D7-42D3-A890-C827AF17CF32}" dt="2026-07-15T18:52:22.394" v="1205" actId="1076"/>
          <ac:spMkLst>
            <pc:docMk/>
            <pc:sldMk cId="2707780344" sldId="261"/>
            <ac:spMk id="7" creationId="{E068C7F8-5C4C-3546-2094-3CFC1EFCB0EF}"/>
          </ac:spMkLst>
        </pc:spChg>
      </pc:sldChg>
      <pc:sldChg chg="addSp delSp modSp new mod">
        <pc:chgData name="Debasmita Pathak" userId="18e3290007f0b84d" providerId="LiveId" clId="{27F883E4-E1D7-42D3-A890-C827AF17CF32}" dt="2026-07-17T06:21:31.228" v="2256" actId="14100"/>
        <pc:sldMkLst>
          <pc:docMk/>
          <pc:sldMk cId="3483814820" sldId="262"/>
        </pc:sldMkLst>
        <pc:spChg chg="mod">
          <ac:chgData name="Debasmita Pathak" userId="18e3290007f0b84d" providerId="LiveId" clId="{27F883E4-E1D7-42D3-A890-C827AF17CF32}" dt="2026-07-15T19:02:45.907" v="1225" actId="20577"/>
          <ac:spMkLst>
            <pc:docMk/>
            <pc:sldMk cId="3483814820" sldId="262"/>
            <ac:spMk id="2" creationId="{4B48CBCE-8A3D-8F00-1BC1-7794222D0F15}"/>
          </ac:spMkLst>
        </pc:spChg>
        <pc:spChg chg="add del">
          <ac:chgData name="Debasmita Pathak" userId="18e3290007f0b84d" providerId="LiveId" clId="{27F883E4-E1D7-42D3-A890-C827AF17CF32}" dt="2026-07-17T06:19:47.246" v="2244" actId="11529"/>
          <ac:spMkLst>
            <pc:docMk/>
            <pc:sldMk cId="3483814820" sldId="262"/>
            <ac:spMk id="3" creationId="{55668BEC-0950-C4E7-4778-686EB2E83B66}"/>
          </ac:spMkLst>
        </pc:spChg>
        <pc:spChg chg="add mod">
          <ac:chgData name="Debasmita Pathak" userId="18e3290007f0b84d" providerId="LiveId" clId="{27F883E4-E1D7-42D3-A890-C827AF17CF32}" dt="2026-07-17T06:20:06.875" v="2246" actId="207"/>
          <ac:spMkLst>
            <pc:docMk/>
            <pc:sldMk cId="3483814820" sldId="262"/>
            <ac:spMk id="4" creationId="{05250139-B9CE-1E60-CB33-24B0C57CDE70}"/>
          </ac:spMkLst>
        </pc:spChg>
        <pc:spChg chg="add mod">
          <ac:chgData name="Debasmita Pathak" userId="18e3290007f0b84d" providerId="LiveId" clId="{27F883E4-E1D7-42D3-A890-C827AF17CF32}" dt="2026-07-15T19:08:11.864" v="1235" actId="207"/>
          <ac:spMkLst>
            <pc:docMk/>
            <pc:sldMk cId="3483814820" sldId="262"/>
            <ac:spMk id="6" creationId="{88F18A6E-A8ED-E145-6254-67ACC3C9BC57}"/>
          </ac:spMkLst>
        </pc:spChg>
        <pc:spChg chg="add mod">
          <ac:chgData name="Debasmita Pathak" userId="18e3290007f0b84d" providerId="LiveId" clId="{27F883E4-E1D7-42D3-A890-C827AF17CF32}" dt="2026-07-17T06:21:31.228" v="2256" actId="14100"/>
          <ac:spMkLst>
            <pc:docMk/>
            <pc:sldMk cId="3483814820" sldId="262"/>
            <ac:spMk id="7" creationId="{3F96838B-FD7B-06DC-0CCF-C3343CCB931D}"/>
          </ac:spMkLst>
        </pc:spChg>
        <pc:picChg chg="add mod">
          <ac:chgData name="Debasmita Pathak" userId="18e3290007f0b84d" providerId="LiveId" clId="{27F883E4-E1D7-42D3-A890-C827AF17CF32}" dt="2026-07-15T19:07:41.658" v="1231" actId="1076"/>
          <ac:picMkLst>
            <pc:docMk/>
            <pc:sldMk cId="3483814820" sldId="262"/>
            <ac:picMk id="5" creationId="{AE0A7153-185D-1B2D-18F6-6913603DF11A}"/>
          </ac:picMkLst>
        </pc:picChg>
      </pc:sldChg>
      <pc:sldChg chg="addSp modSp new mod">
        <pc:chgData name="Debasmita Pathak" userId="18e3290007f0b84d" providerId="LiveId" clId="{27F883E4-E1D7-42D3-A890-C827AF17CF32}" dt="2026-07-15T19:15:36.224" v="1299" actId="14100"/>
        <pc:sldMkLst>
          <pc:docMk/>
          <pc:sldMk cId="3387411170" sldId="263"/>
        </pc:sldMkLst>
        <pc:spChg chg="mod">
          <ac:chgData name="Debasmita Pathak" userId="18e3290007f0b84d" providerId="LiveId" clId="{27F883E4-E1D7-42D3-A890-C827AF17CF32}" dt="2026-07-15T19:12:20.585" v="1247" actId="20577"/>
          <ac:spMkLst>
            <pc:docMk/>
            <pc:sldMk cId="3387411170" sldId="263"/>
            <ac:spMk id="2" creationId="{922A7EF2-1F98-8B7B-540C-8BB6E4B60349}"/>
          </ac:spMkLst>
        </pc:spChg>
        <pc:spChg chg="mod">
          <ac:chgData name="Debasmita Pathak" userId="18e3290007f0b84d" providerId="LiveId" clId="{27F883E4-E1D7-42D3-A890-C827AF17CF32}" dt="2026-07-15T19:15:36.224" v="1299" actId="14100"/>
          <ac:spMkLst>
            <pc:docMk/>
            <pc:sldMk cId="3387411170" sldId="263"/>
            <ac:spMk id="3" creationId="{9199EEEF-AE54-D7E5-CBE4-A142D82CFBBC}"/>
          </ac:spMkLst>
        </pc:spChg>
        <pc:picChg chg="add mod">
          <ac:chgData name="Debasmita Pathak" userId="18e3290007f0b84d" providerId="LiveId" clId="{27F883E4-E1D7-42D3-A890-C827AF17CF32}" dt="2026-07-15T19:15:24.895" v="1295" actId="14100"/>
          <ac:picMkLst>
            <pc:docMk/>
            <pc:sldMk cId="3387411170" sldId="263"/>
            <ac:picMk id="5" creationId="{5F7F53C6-AD0D-5EDE-797B-520B67A48E73}"/>
          </ac:picMkLst>
        </pc:picChg>
      </pc:sldChg>
      <pc:sldChg chg="addSp delSp modSp new mod modClrScheme chgLayout">
        <pc:chgData name="Debasmita Pathak" userId="18e3290007f0b84d" providerId="LiveId" clId="{27F883E4-E1D7-42D3-A890-C827AF17CF32}" dt="2026-07-15T19:26:39.776" v="1328" actId="1076"/>
        <pc:sldMkLst>
          <pc:docMk/>
          <pc:sldMk cId="2041544266" sldId="264"/>
        </pc:sldMkLst>
        <pc:picChg chg="add mod">
          <ac:chgData name="Debasmita Pathak" userId="18e3290007f0b84d" providerId="LiveId" clId="{27F883E4-E1D7-42D3-A890-C827AF17CF32}" dt="2026-07-15T19:26:32.600" v="1325" actId="1076"/>
          <ac:picMkLst>
            <pc:docMk/>
            <pc:sldMk cId="2041544266" sldId="264"/>
            <ac:picMk id="10" creationId="{CFEE1B20-DDBA-6FD7-7E87-E83C43B9ED34}"/>
          </ac:picMkLst>
        </pc:picChg>
        <pc:picChg chg="add mod">
          <ac:chgData name="Debasmita Pathak" userId="18e3290007f0b84d" providerId="LiveId" clId="{27F883E4-E1D7-42D3-A890-C827AF17CF32}" dt="2026-07-15T19:26:39.776" v="1328" actId="1076"/>
          <ac:picMkLst>
            <pc:docMk/>
            <pc:sldMk cId="2041544266" sldId="264"/>
            <ac:picMk id="12" creationId="{27D9EB10-801A-1B7F-E223-73D14E0F6781}"/>
          </ac:picMkLst>
        </pc:picChg>
      </pc:sldChg>
      <pc:sldChg chg="addSp delSp modSp new mod modClrScheme chgLayout">
        <pc:chgData name="Debasmita Pathak" userId="18e3290007f0b84d" providerId="LiveId" clId="{27F883E4-E1D7-42D3-A890-C827AF17CF32}" dt="2026-07-15T19:30:56.080" v="1376" actId="14100"/>
        <pc:sldMkLst>
          <pc:docMk/>
          <pc:sldMk cId="2673455176" sldId="265"/>
        </pc:sldMkLst>
        <pc:spChg chg="add mod ord">
          <ac:chgData name="Debasmita Pathak" userId="18e3290007f0b84d" providerId="LiveId" clId="{27F883E4-E1D7-42D3-A890-C827AF17CF32}" dt="2026-07-15T19:29:01.544" v="1357" actId="1076"/>
          <ac:spMkLst>
            <pc:docMk/>
            <pc:sldMk cId="2673455176" sldId="265"/>
            <ac:spMk id="4" creationId="{81A878AA-D4F4-59C3-140D-121E833E5BE9}"/>
          </ac:spMkLst>
        </pc:spChg>
        <pc:spChg chg="add mod ord">
          <ac:chgData name="Debasmita Pathak" userId="18e3290007f0b84d" providerId="LiveId" clId="{27F883E4-E1D7-42D3-A890-C827AF17CF32}" dt="2026-07-15T19:29:38.655" v="1367" actId="20577"/>
          <ac:spMkLst>
            <pc:docMk/>
            <pc:sldMk cId="2673455176" sldId="265"/>
            <ac:spMk id="6" creationId="{05DCEFC0-8F40-DD51-56C8-C2BC83A3C526}"/>
          </ac:spMkLst>
        </pc:spChg>
        <pc:picChg chg="add mod">
          <ac:chgData name="Debasmita Pathak" userId="18e3290007f0b84d" providerId="LiveId" clId="{27F883E4-E1D7-42D3-A890-C827AF17CF32}" dt="2026-07-15T19:30:56.080" v="1376" actId="14100"/>
          <ac:picMkLst>
            <pc:docMk/>
            <pc:sldMk cId="2673455176" sldId="265"/>
            <ac:picMk id="8" creationId="{60EF1A43-B9FA-8E77-70B7-BC542F7E6E34}"/>
          </ac:picMkLst>
        </pc:picChg>
      </pc:sldChg>
      <pc:sldChg chg="addSp delSp modSp new mod modClrScheme chgLayout">
        <pc:chgData name="Debasmita Pathak" userId="18e3290007f0b84d" providerId="LiveId" clId="{27F883E4-E1D7-42D3-A890-C827AF17CF32}" dt="2026-07-15T19:43:52.814" v="1594" actId="339"/>
        <pc:sldMkLst>
          <pc:docMk/>
          <pc:sldMk cId="2856497038" sldId="266"/>
        </pc:sldMkLst>
        <pc:spChg chg="add mod">
          <ac:chgData name="Debasmita Pathak" userId="18e3290007f0b84d" providerId="LiveId" clId="{27F883E4-E1D7-42D3-A890-C827AF17CF32}" dt="2026-07-15T19:43:44.409" v="1593" actId="339"/>
          <ac:spMkLst>
            <pc:docMk/>
            <pc:sldMk cId="2856497038" sldId="266"/>
            <ac:spMk id="7" creationId="{C6D97F42-7F3E-D168-6E3A-3B41A1651E43}"/>
          </ac:spMkLst>
        </pc:spChg>
        <pc:spChg chg="add mod">
          <ac:chgData name="Debasmita Pathak" userId="18e3290007f0b84d" providerId="LiveId" clId="{27F883E4-E1D7-42D3-A890-C827AF17CF32}" dt="2026-07-15T19:43:52.814" v="1594" actId="339"/>
          <ac:spMkLst>
            <pc:docMk/>
            <pc:sldMk cId="2856497038" sldId="266"/>
            <ac:spMk id="8" creationId="{0B5BF133-FBE2-79E4-6D5E-1247FC1CE178}"/>
          </ac:spMkLst>
        </pc:spChg>
        <pc:spChg chg="add mod">
          <ac:chgData name="Debasmita Pathak" userId="18e3290007f0b84d" providerId="LiveId" clId="{27F883E4-E1D7-42D3-A890-C827AF17CF32}" dt="2026-07-15T19:43:34.089" v="1589" actId="339"/>
          <ac:spMkLst>
            <pc:docMk/>
            <pc:sldMk cId="2856497038" sldId="266"/>
            <ac:spMk id="9" creationId="{DE5CACAC-9D3F-4513-461A-3ED65534821F}"/>
          </ac:spMkLst>
        </pc:spChg>
        <pc:picChg chg="add mod">
          <ac:chgData name="Debasmita Pathak" userId="18e3290007f0b84d" providerId="LiveId" clId="{27F883E4-E1D7-42D3-A890-C827AF17CF32}" dt="2026-07-15T19:41:19.881" v="1559" actId="14100"/>
          <ac:picMkLst>
            <pc:docMk/>
            <pc:sldMk cId="2856497038" sldId="266"/>
            <ac:picMk id="5" creationId="{915BE39E-3215-4AE7-5A8B-2776603C4AB2}"/>
          </ac:picMkLst>
        </pc:picChg>
      </pc:sldChg>
      <pc:sldChg chg="add del">
        <pc:chgData name="Debasmita Pathak" userId="18e3290007f0b84d" providerId="LiveId" clId="{27F883E4-E1D7-42D3-A890-C827AF17CF32}" dt="2026-07-17T06:18:11.875" v="2242" actId="2696"/>
        <pc:sldMkLst>
          <pc:docMk/>
          <pc:sldMk cId="1439234277" sldId="267"/>
        </pc:sldMkLst>
      </pc:sldChg>
      <pc:sldChg chg="addSp delSp modSp new mod modClrScheme chgLayout">
        <pc:chgData name="Debasmita Pathak" userId="18e3290007f0b84d" providerId="LiveId" clId="{27F883E4-E1D7-42D3-A890-C827AF17CF32}" dt="2026-07-17T05:09:15.185" v="1804" actId="21"/>
        <pc:sldMkLst>
          <pc:docMk/>
          <pc:sldMk cId="655143624" sldId="268"/>
        </pc:sldMkLst>
        <pc:spChg chg="add mod">
          <ac:chgData name="Debasmita Pathak" userId="18e3290007f0b84d" providerId="LiveId" clId="{27F883E4-E1D7-42D3-A890-C827AF17CF32}" dt="2026-07-15T19:45:50.674" v="1625" actId="339"/>
          <ac:spMkLst>
            <pc:docMk/>
            <pc:sldMk cId="655143624" sldId="268"/>
            <ac:spMk id="4" creationId="{9FA7AB7E-4616-E65E-4B7B-6FA9B9941A2C}"/>
          </ac:spMkLst>
        </pc:spChg>
        <pc:graphicFrameChg chg="add del">
          <ac:chgData name="Debasmita Pathak" userId="18e3290007f0b84d" providerId="LiveId" clId="{27F883E4-E1D7-42D3-A890-C827AF17CF32}" dt="2026-07-17T05:09:15.185" v="1804" actId="21"/>
          <ac:graphicFrameMkLst>
            <pc:docMk/>
            <pc:sldMk cId="655143624" sldId="268"/>
            <ac:graphicFrameMk id="2" creationId="{65A894BF-B480-7D09-8A16-21D2D7750DA3}"/>
          </ac:graphicFrameMkLst>
        </pc:graphicFrameChg>
        <pc:graphicFrameChg chg="add mod modGraphic">
          <ac:chgData name="Debasmita Pathak" userId="18e3290007f0b84d" providerId="LiveId" clId="{27F883E4-E1D7-42D3-A890-C827AF17CF32}" dt="2026-07-15T19:59:48.643" v="1766" actId="14861"/>
          <ac:graphicFrameMkLst>
            <pc:docMk/>
            <pc:sldMk cId="655143624" sldId="268"/>
            <ac:graphicFrameMk id="7" creationId="{6E4B2892-3C77-352A-888E-3E56824C56E3}"/>
          </ac:graphicFrameMkLst>
        </pc:graphicFrameChg>
        <pc:picChg chg="add mod">
          <ac:chgData name="Debasmita Pathak" userId="18e3290007f0b84d" providerId="LiveId" clId="{27F883E4-E1D7-42D3-A890-C827AF17CF32}" dt="2026-07-15T19:47:20.785" v="1632" actId="1076"/>
          <ac:picMkLst>
            <pc:docMk/>
            <pc:sldMk cId="655143624" sldId="268"/>
            <ac:picMk id="6" creationId="{9BD8490C-FE8A-A3D7-0FDD-34C9213454B1}"/>
          </ac:picMkLst>
        </pc:picChg>
      </pc:sldChg>
      <pc:sldChg chg="addSp delSp modSp new mod">
        <pc:chgData name="Debasmita Pathak" userId="18e3290007f0b84d" providerId="LiveId" clId="{27F883E4-E1D7-42D3-A890-C827AF17CF32}" dt="2026-07-17T06:05:03.066" v="2131" actId="339"/>
        <pc:sldMkLst>
          <pc:docMk/>
          <pc:sldMk cId="3404377293" sldId="269"/>
        </pc:sldMkLst>
        <pc:spChg chg="add mod">
          <ac:chgData name="Debasmita Pathak" userId="18e3290007f0b84d" providerId="LiveId" clId="{27F883E4-E1D7-42D3-A890-C827AF17CF32}" dt="2026-07-17T04:58:21.301" v="1776" actId="20577"/>
          <ac:spMkLst>
            <pc:docMk/>
            <pc:sldMk cId="3404377293" sldId="269"/>
            <ac:spMk id="3" creationId="{68A29AC0-F087-72E6-010C-B1FA78F7BDC4}"/>
          </ac:spMkLst>
        </pc:spChg>
        <pc:graphicFrameChg chg="add del mod modGraphic">
          <ac:chgData name="Debasmita Pathak" userId="18e3290007f0b84d" providerId="LiveId" clId="{27F883E4-E1D7-42D3-A890-C827AF17CF32}" dt="2026-07-17T05:12:14.955" v="1842" actId="478"/>
          <ac:graphicFrameMkLst>
            <pc:docMk/>
            <pc:sldMk cId="3404377293" sldId="269"/>
            <ac:graphicFrameMk id="9" creationId="{B423CB45-5343-E26F-1919-645B093D7F27}"/>
          </ac:graphicFrameMkLst>
        </pc:graphicFrameChg>
        <pc:graphicFrameChg chg="add mod modGraphic">
          <ac:chgData name="Debasmita Pathak" userId="18e3290007f0b84d" providerId="LiveId" clId="{27F883E4-E1D7-42D3-A890-C827AF17CF32}" dt="2026-07-17T05:28:40.929" v="1926" actId="20577"/>
          <ac:graphicFrameMkLst>
            <pc:docMk/>
            <pc:sldMk cId="3404377293" sldId="269"/>
            <ac:graphicFrameMk id="10" creationId="{942A812A-314A-5B0F-0138-597ECC1518FC}"/>
          </ac:graphicFrameMkLst>
        </pc:graphicFrameChg>
        <pc:picChg chg="add mod">
          <ac:chgData name="Debasmita Pathak" userId="18e3290007f0b84d" providerId="LiveId" clId="{27F883E4-E1D7-42D3-A890-C827AF17CF32}" dt="2026-07-17T06:05:03.066" v="2131" actId="339"/>
          <ac:picMkLst>
            <pc:docMk/>
            <pc:sldMk cId="3404377293" sldId="269"/>
            <ac:picMk id="5" creationId="{D99EBC87-DE9F-B23E-A540-AA240818C9BD}"/>
          </ac:picMkLst>
        </pc:picChg>
        <pc:picChg chg="add del mod">
          <ac:chgData name="Debasmita Pathak" userId="18e3290007f0b84d" providerId="LiveId" clId="{27F883E4-E1D7-42D3-A890-C827AF17CF32}" dt="2026-07-17T05:08:38.591" v="1802" actId="478"/>
          <ac:picMkLst>
            <pc:docMk/>
            <pc:sldMk cId="3404377293" sldId="269"/>
            <ac:picMk id="7" creationId="{60923513-4E2D-1A73-4A90-1B2702C88485}"/>
          </ac:picMkLst>
        </pc:picChg>
      </pc:sldChg>
      <pc:sldChg chg="addSp modSp new mod">
        <pc:chgData name="Debasmita Pathak" userId="18e3290007f0b84d" providerId="LiveId" clId="{27F883E4-E1D7-42D3-A890-C827AF17CF32}" dt="2026-07-17T06:05:12.320" v="2132" actId="339"/>
        <pc:sldMkLst>
          <pc:docMk/>
          <pc:sldMk cId="1530903021" sldId="270"/>
        </pc:sldMkLst>
        <pc:spChg chg="add mod">
          <ac:chgData name="Debasmita Pathak" userId="18e3290007f0b84d" providerId="LiveId" clId="{27F883E4-E1D7-42D3-A890-C827AF17CF32}" dt="2026-07-17T05:36:39.427" v="1956" actId="12"/>
          <ac:spMkLst>
            <pc:docMk/>
            <pc:sldMk cId="1530903021" sldId="270"/>
            <ac:spMk id="4" creationId="{EE56C4B3-8089-C9D5-1667-40D2F59DF8A4}"/>
          </ac:spMkLst>
        </pc:spChg>
        <pc:picChg chg="add mod">
          <ac:chgData name="Debasmita Pathak" userId="18e3290007f0b84d" providerId="LiveId" clId="{27F883E4-E1D7-42D3-A890-C827AF17CF32}" dt="2026-07-17T06:05:12.320" v="2132" actId="339"/>
          <ac:picMkLst>
            <pc:docMk/>
            <pc:sldMk cId="1530903021" sldId="270"/>
            <ac:picMk id="3" creationId="{DE1998DB-51BA-F1FA-33F9-E89E246E9685}"/>
          </ac:picMkLst>
        </pc:picChg>
      </pc:sldChg>
      <pc:sldChg chg="addSp delSp modSp new mod">
        <pc:chgData name="Debasmita Pathak" userId="18e3290007f0b84d" providerId="LiveId" clId="{27F883E4-E1D7-42D3-A890-C827AF17CF32}" dt="2026-07-17T06:04:45.927" v="2130" actId="339"/>
        <pc:sldMkLst>
          <pc:docMk/>
          <pc:sldMk cId="1089210044" sldId="271"/>
        </pc:sldMkLst>
        <pc:graphicFrameChg chg="add del mod modGraphic">
          <ac:chgData name="Debasmita Pathak" userId="18e3290007f0b84d" providerId="LiveId" clId="{27F883E4-E1D7-42D3-A890-C827AF17CF32}" dt="2026-07-17T05:52:43.926" v="2004" actId="478"/>
          <ac:graphicFrameMkLst>
            <pc:docMk/>
            <pc:sldMk cId="1089210044" sldId="271"/>
            <ac:graphicFrameMk id="4" creationId="{2BCE0478-F8E8-255F-C7A4-04DB1DD280DB}"/>
          </ac:graphicFrameMkLst>
        </pc:graphicFrameChg>
        <pc:graphicFrameChg chg="add mod modGraphic">
          <ac:chgData name="Debasmita Pathak" userId="18e3290007f0b84d" providerId="LiveId" clId="{27F883E4-E1D7-42D3-A890-C827AF17CF32}" dt="2026-07-17T05:57:59.449" v="2069" actId="14861"/>
          <ac:graphicFrameMkLst>
            <pc:docMk/>
            <pc:sldMk cId="1089210044" sldId="271"/>
            <ac:graphicFrameMk id="5" creationId="{8F65D435-B6CF-8A5E-EE92-C49C4EB3A76B}"/>
          </ac:graphicFrameMkLst>
        </pc:graphicFrameChg>
        <pc:picChg chg="add mod">
          <ac:chgData name="Debasmita Pathak" userId="18e3290007f0b84d" providerId="LiveId" clId="{27F883E4-E1D7-42D3-A890-C827AF17CF32}" dt="2026-07-17T06:04:45.927" v="2130" actId="339"/>
          <ac:picMkLst>
            <pc:docMk/>
            <pc:sldMk cId="1089210044" sldId="271"/>
            <ac:picMk id="3" creationId="{B4EAA3A2-FE4C-545B-C96D-C3F707ADE9DF}"/>
          </ac:picMkLst>
        </pc:picChg>
      </pc:sldChg>
      <pc:sldChg chg="addSp modSp new mod">
        <pc:chgData name="Debasmita Pathak" userId="18e3290007f0b84d" providerId="LiveId" clId="{27F883E4-E1D7-42D3-A890-C827AF17CF32}" dt="2026-07-17T06:10:01.892" v="2159" actId="1076"/>
        <pc:sldMkLst>
          <pc:docMk/>
          <pc:sldMk cId="1092397552" sldId="272"/>
        </pc:sldMkLst>
        <pc:spChg chg="add mod">
          <ac:chgData name="Debasmita Pathak" userId="18e3290007f0b84d" providerId="LiveId" clId="{27F883E4-E1D7-42D3-A890-C827AF17CF32}" dt="2026-07-17T06:10:01.892" v="2159" actId="1076"/>
          <ac:spMkLst>
            <pc:docMk/>
            <pc:sldMk cId="1092397552" sldId="272"/>
            <ac:spMk id="4" creationId="{01970334-9684-219E-6DAF-F516CA8D546E}"/>
          </ac:spMkLst>
        </pc:spChg>
        <pc:picChg chg="add mod">
          <ac:chgData name="Debasmita Pathak" userId="18e3290007f0b84d" providerId="LiveId" clId="{27F883E4-E1D7-42D3-A890-C827AF17CF32}" dt="2026-07-17T06:08:26.204" v="2136" actId="1076"/>
          <ac:picMkLst>
            <pc:docMk/>
            <pc:sldMk cId="1092397552" sldId="272"/>
            <ac:picMk id="3" creationId="{B9E52077-52C9-E3AC-26DE-7760238353DB}"/>
          </ac:picMkLst>
        </pc:picChg>
      </pc:sldChg>
      <pc:sldChg chg="addSp delSp modSp new mod modClrScheme chgLayout">
        <pc:chgData name="Debasmita Pathak" userId="18e3290007f0b84d" providerId="LiveId" clId="{27F883E4-E1D7-42D3-A890-C827AF17CF32}" dt="2026-07-17T06:14:15.253" v="2204"/>
        <pc:sldMkLst>
          <pc:docMk/>
          <pc:sldMk cId="1720232010" sldId="273"/>
        </pc:sldMkLst>
        <pc:spChg chg="add del mod ord">
          <ac:chgData name="Debasmita Pathak" userId="18e3290007f0b84d" providerId="LiveId" clId="{27F883E4-E1D7-42D3-A890-C827AF17CF32}" dt="2026-07-17T06:11:13.585" v="2163" actId="700"/>
          <ac:spMkLst>
            <pc:docMk/>
            <pc:sldMk cId="1720232010" sldId="273"/>
            <ac:spMk id="4" creationId="{11756254-0EE1-EFFE-A31A-1D330CFD71E8}"/>
          </ac:spMkLst>
        </pc:spChg>
        <pc:spChg chg="add del mod ord">
          <ac:chgData name="Debasmita Pathak" userId="18e3290007f0b84d" providerId="LiveId" clId="{27F883E4-E1D7-42D3-A890-C827AF17CF32}" dt="2026-07-17T06:11:04.413" v="2162" actId="478"/>
          <ac:spMkLst>
            <pc:docMk/>
            <pc:sldMk cId="1720232010" sldId="273"/>
            <ac:spMk id="5" creationId="{C7238D1A-2821-09B6-F586-CFC9111618C5}"/>
          </ac:spMkLst>
        </pc:spChg>
        <pc:spChg chg="add del mod ord">
          <ac:chgData name="Debasmita Pathak" userId="18e3290007f0b84d" providerId="LiveId" clId="{27F883E4-E1D7-42D3-A890-C827AF17CF32}" dt="2026-07-17T06:11:13.585" v="2163" actId="700"/>
          <ac:spMkLst>
            <pc:docMk/>
            <pc:sldMk cId="1720232010" sldId="273"/>
            <ac:spMk id="6" creationId="{FD15CC19-460A-E6DC-C991-396AE9C6857F}"/>
          </ac:spMkLst>
        </pc:spChg>
        <pc:spChg chg="add del mod ord">
          <ac:chgData name="Debasmita Pathak" userId="18e3290007f0b84d" providerId="LiveId" clId="{27F883E4-E1D7-42D3-A890-C827AF17CF32}" dt="2026-07-17T06:11:25.757" v="2164" actId="478"/>
          <ac:spMkLst>
            <pc:docMk/>
            <pc:sldMk cId="1720232010" sldId="273"/>
            <ac:spMk id="7" creationId="{1C9A4C65-85D0-C24E-33BB-E565A1A63634}"/>
          </ac:spMkLst>
        </pc:spChg>
        <pc:spChg chg="add mod ord">
          <ac:chgData name="Debasmita Pathak" userId="18e3290007f0b84d" providerId="LiveId" clId="{27F883E4-E1D7-42D3-A890-C827AF17CF32}" dt="2026-07-17T06:14:15.253" v="2204"/>
          <ac:spMkLst>
            <pc:docMk/>
            <pc:sldMk cId="1720232010" sldId="273"/>
            <ac:spMk id="8" creationId="{81F7B112-A9AB-11CF-962F-116706B36E52}"/>
          </ac:spMkLst>
        </pc:spChg>
        <pc:picChg chg="add mod">
          <ac:chgData name="Debasmita Pathak" userId="18e3290007f0b84d" providerId="LiveId" clId="{27F883E4-E1D7-42D3-A890-C827AF17CF32}" dt="2026-07-17T06:11:52.481" v="2176" actId="1076"/>
          <ac:picMkLst>
            <pc:docMk/>
            <pc:sldMk cId="1720232010" sldId="273"/>
            <ac:picMk id="3" creationId="{191D93E1-6983-28F7-A545-49FEB0A5FB25}"/>
          </ac:picMkLst>
        </pc:picChg>
      </pc:sldChg>
      <pc:sldChg chg="addSp delSp modSp new mod modClrScheme chgLayout">
        <pc:chgData name="Debasmita Pathak" userId="18e3290007f0b84d" providerId="LiveId" clId="{27F883E4-E1D7-42D3-A890-C827AF17CF32}" dt="2026-07-17T06:04:30.969" v="2129" actId="339"/>
        <pc:sldMkLst>
          <pc:docMk/>
          <pc:sldMk cId="3141905718" sldId="274"/>
        </pc:sldMkLst>
        <pc:spChg chg="add del mod">
          <ac:chgData name="Debasmita Pathak" userId="18e3290007f0b84d" providerId="LiveId" clId="{27F883E4-E1D7-42D3-A890-C827AF17CF32}" dt="2026-07-17T06:00:56.517" v="2093" actId="47"/>
          <ac:spMkLst>
            <pc:docMk/>
            <pc:sldMk cId="3141905718" sldId="274"/>
            <ac:spMk id="4" creationId="{655CF639-216E-857F-86E5-18CB947D2DD7}"/>
          </ac:spMkLst>
        </pc:spChg>
        <pc:spChg chg="add del mod">
          <ac:chgData name="Debasmita Pathak" userId="18e3290007f0b84d" providerId="LiveId" clId="{27F883E4-E1D7-42D3-A890-C827AF17CF32}" dt="2026-07-17T06:01:02.351" v="2096" actId="767"/>
          <ac:spMkLst>
            <pc:docMk/>
            <pc:sldMk cId="3141905718" sldId="274"/>
            <ac:spMk id="5" creationId="{CDF34FB8-EB69-12D2-576E-6D5DF8DC0147}"/>
          </ac:spMkLst>
        </pc:spChg>
        <pc:spChg chg="add del mod">
          <ac:chgData name="Debasmita Pathak" userId="18e3290007f0b84d" providerId="LiveId" clId="{27F883E4-E1D7-42D3-A890-C827AF17CF32}" dt="2026-07-17T06:02:00.739" v="2105" actId="478"/>
          <ac:spMkLst>
            <pc:docMk/>
            <pc:sldMk cId="3141905718" sldId="274"/>
            <ac:spMk id="6" creationId="{ABA6A2A6-ACF1-B3BE-D352-D5ADC0310F51}"/>
          </ac:spMkLst>
        </pc:spChg>
        <pc:spChg chg="add del mod ord">
          <ac:chgData name="Debasmita Pathak" userId="18e3290007f0b84d" providerId="LiveId" clId="{27F883E4-E1D7-42D3-A890-C827AF17CF32}" dt="2026-07-17T06:02:31.616" v="2107" actId="478"/>
          <ac:spMkLst>
            <pc:docMk/>
            <pc:sldMk cId="3141905718" sldId="274"/>
            <ac:spMk id="7" creationId="{9A6A95F9-1481-5E08-D919-57A52F8E1310}"/>
          </ac:spMkLst>
        </pc:spChg>
        <pc:spChg chg="add mod ord">
          <ac:chgData name="Debasmita Pathak" userId="18e3290007f0b84d" providerId="LiveId" clId="{27F883E4-E1D7-42D3-A890-C827AF17CF32}" dt="2026-07-17T06:04:10.617" v="2128" actId="27636"/>
          <ac:spMkLst>
            <pc:docMk/>
            <pc:sldMk cId="3141905718" sldId="274"/>
            <ac:spMk id="8" creationId="{609D9FA3-BECF-94AE-6FE1-53FAF3152B34}"/>
          </ac:spMkLst>
        </pc:spChg>
        <pc:picChg chg="add mod">
          <ac:chgData name="Debasmita Pathak" userId="18e3290007f0b84d" providerId="LiveId" clId="{27F883E4-E1D7-42D3-A890-C827AF17CF32}" dt="2026-07-17T06:04:30.969" v="2129" actId="339"/>
          <ac:picMkLst>
            <pc:docMk/>
            <pc:sldMk cId="3141905718" sldId="274"/>
            <ac:picMk id="3" creationId="{42CE45C3-C771-F635-D7E0-0E26E10CE015}"/>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8F7CA1E-AFC6-4A5C-8FDF-90F567C2508B}" type="datetimeFigureOut">
              <a:rPr lang="en-IN" smtClean="0"/>
              <a:t>17-07-2026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3238268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F7CA1E-AFC6-4A5C-8FDF-90F567C2508B}"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1351399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F7CA1E-AFC6-4A5C-8FDF-90F567C2508B}"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4275108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F7CA1E-AFC6-4A5C-8FDF-90F567C2508B}"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1770541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F7CA1E-AFC6-4A5C-8FDF-90F567C2508B}" type="datetimeFigureOut">
              <a:rPr lang="en-IN" smtClean="0"/>
              <a:t>17-07-2026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1891352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F7CA1E-AFC6-4A5C-8FDF-90F567C2508B}" type="datetimeFigureOut">
              <a:rPr lang="en-IN" smtClean="0"/>
              <a:t>17-07-2026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2105657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F7CA1E-AFC6-4A5C-8FDF-90F567C2508B}" type="datetimeFigureOut">
              <a:rPr lang="en-IN" smtClean="0"/>
              <a:t>17-07-2026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800205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F7CA1E-AFC6-4A5C-8FDF-90F567C2508B}"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1530478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F7CA1E-AFC6-4A5C-8FDF-90F567C2508B}"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3258543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F7CA1E-AFC6-4A5C-8FDF-90F567C2508B}" type="datetimeFigureOut">
              <a:rPr lang="en-IN" smtClean="0"/>
              <a:t>17-07-2026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149949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8F7CA1E-AFC6-4A5C-8FDF-90F567C2508B}"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12012287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8F7CA1E-AFC6-4A5C-8FDF-90F567C2508B}"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22061452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F7CA1E-AFC6-4A5C-8FDF-90F567C2508B}"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4007132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8F7CA1E-AFC6-4A5C-8FDF-90F567C2508B}" type="datetimeFigureOut">
              <a:rPr lang="en-IN" smtClean="0"/>
              <a:t>17-07-2026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3537397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8F7CA1E-AFC6-4A5C-8FDF-90F567C2508B}" type="datetimeFigureOut">
              <a:rPr lang="en-IN" smtClean="0"/>
              <a:t>17-07-2026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2086530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8F7CA1E-AFC6-4A5C-8FDF-90F567C2508B}"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29397308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8F7CA1E-AFC6-4A5C-8FDF-90F567C2508B}" type="datetimeFigureOut">
              <a:rPr lang="en-IN" smtClean="0"/>
              <a:t>17-07-2026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1D58FE76-8C57-4F74-92CB-4A0783A041F7}" type="slidenum">
              <a:rPr lang="en-IN" smtClean="0"/>
              <a:t>‹#›</a:t>
            </a:fld>
            <a:endParaRPr lang="en-IN"/>
          </a:p>
        </p:txBody>
      </p:sp>
    </p:spTree>
    <p:extLst>
      <p:ext uri="{BB962C8B-B14F-4D97-AF65-F5344CB8AC3E}">
        <p14:creationId xmlns:p14="http://schemas.microsoft.com/office/powerpoint/2010/main" val="449707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8F7CA1E-AFC6-4A5C-8FDF-90F567C2508B}" type="datetimeFigureOut">
              <a:rPr lang="en-IN" smtClean="0"/>
              <a:t>17-07-2026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1D58FE76-8C57-4F74-92CB-4A0783A041F7}" type="slidenum">
              <a:rPr lang="en-IN" smtClean="0"/>
              <a:t>‹#›</a:t>
            </a:fld>
            <a:endParaRPr lang="en-IN"/>
          </a:p>
        </p:txBody>
      </p:sp>
    </p:spTree>
    <p:extLst>
      <p:ext uri="{BB962C8B-B14F-4D97-AF65-F5344CB8AC3E}">
        <p14:creationId xmlns:p14="http://schemas.microsoft.com/office/powerpoint/2010/main" val="27241805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amarujala.com/india-news/bharat-band-impact-on-bank-will-bharat-bandh-have-impact-on-banks-no-holiday-today-bank-open-or-close-2025-07-09"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crimsonpublishers.com/rdms/fulltext/RDMS.000638.php" TargetMode="External"/><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https://www.rawpixel.com/image/107004/thank-you-note-cup-coffee" TargetMode="External"/><Relationship Id="rId2" Type="http://schemas.openxmlformats.org/officeDocument/2006/relationships/image" Target="../media/image17.1"/><Relationship Id="rId1" Type="http://schemas.openxmlformats.org/officeDocument/2006/relationships/slideLayout" Target="../slideLayouts/slideLayout7.xml"/><Relationship Id="rId5" Type="http://schemas.openxmlformats.org/officeDocument/2006/relationships/hyperlink" Target="https://www.rawpixel.com/search/bank" TargetMode="External"/><Relationship Id="rId4" Type="http://schemas.openxmlformats.org/officeDocument/2006/relationships/image" Target="../media/image18.1"/></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54527-8B16-DFEC-E3B4-76607C460335}"/>
              </a:ext>
            </a:extLst>
          </p:cNvPr>
          <p:cNvSpPr>
            <a:spLocks noGrp="1"/>
          </p:cNvSpPr>
          <p:nvPr>
            <p:ph type="ctrTitle"/>
          </p:nvPr>
        </p:nvSpPr>
        <p:spPr>
          <a:xfrm>
            <a:off x="732464" y="658368"/>
            <a:ext cx="4122999" cy="3026664"/>
          </a:xfrm>
        </p:spPr>
        <p:txBody>
          <a:bodyPr>
            <a:normAutofit fontScale="90000"/>
          </a:bodyPr>
          <a:lstStyle/>
          <a:p>
            <a:r>
              <a:rPr lang="en-IN" b="1" dirty="0"/>
              <a:t>BANK LOAN ANALYTICS DASHBOARD</a:t>
            </a:r>
          </a:p>
        </p:txBody>
      </p:sp>
      <p:sp>
        <p:nvSpPr>
          <p:cNvPr id="3" name="Subtitle 2">
            <a:extLst>
              <a:ext uri="{FF2B5EF4-FFF2-40B4-BE49-F238E27FC236}">
                <a16:creationId xmlns:a16="http://schemas.microsoft.com/office/drawing/2014/main" id="{5CF92F26-BB8C-423B-BF4A-3F097DF24775}"/>
              </a:ext>
            </a:extLst>
          </p:cNvPr>
          <p:cNvSpPr>
            <a:spLocks noGrp="1"/>
          </p:cNvSpPr>
          <p:nvPr>
            <p:ph type="subTitle" idx="1"/>
          </p:nvPr>
        </p:nvSpPr>
        <p:spPr>
          <a:xfrm>
            <a:off x="760878" y="4205542"/>
            <a:ext cx="3763478" cy="1499351"/>
          </a:xfrm>
        </p:spPr>
        <p:txBody>
          <a:bodyPr/>
          <a:lstStyle/>
          <a:p>
            <a:r>
              <a:rPr lang="en-US" b="1" dirty="0">
                <a:solidFill>
                  <a:srgbClr val="FFFF00"/>
                </a:solidFill>
                <a:latin typeface="Batang" panose="02030600000101010101" pitchFamily="18" charset="-127"/>
                <a:ea typeface="Batang" panose="02030600000101010101" pitchFamily="18" charset="-127"/>
              </a:rPr>
              <a:t>By – Debasmita Pathak</a:t>
            </a:r>
          </a:p>
          <a:p>
            <a:r>
              <a:rPr lang="en-US" b="1" dirty="0">
                <a:solidFill>
                  <a:srgbClr val="FFFF00"/>
                </a:solidFill>
                <a:latin typeface="Batang" panose="02030600000101010101" pitchFamily="18" charset="-127"/>
                <a:ea typeface="Batang" panose="02030600000101010101" pitchFamily="18" charset="-127"/>
              </a:rPr>
              <a:t>Student code – AF05150011</a:t>
            </a:r>
          </a:p>
          <a:p>
            <a:endParaRPr lang="en-IN" dirty="0"/>
          </a:p>
        </p:txBody>
      </p:sp>
      <p:pic>
        <p:nvPicPr>
          <p:cNvPr id="7" name="Picture 6">
            <a:extLst>
              <a:ext uri="{FF2B5EF4-FFF2-40B4-BE49-F238E27FC236}">
                <a16:creationId xmlns:a16="http://schemas.microsoft.com/office/drawing/2014/main" id="{F5FB4723-E676-8912-1081-680E20742B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0446" y="1287002"/>
            <a:ext cx="3876111" cy="2526046"/>
          </a:xfrm>
          <a:prstGeom prst="rect">
            <a:avLst/>
          </a:prstGeom>
          <a:effectLst>
            <a:glow rad="139700">
              <a:schemeClr val="accent4">
                <a:satMod val="175000"/>
                <a:alpha val="40000"/>
              </a:schemeClr>
            </a:glow>
            <a:outerShdw blurRad="50800" dist="38100" dir="2700000" algn="tl" rotWithShape="0">
              <a:prstClr val="black">
                <a:alpha val="40000"/>
              </a:prstClr>
            </a:outerShdw>
            <a:reflection stA="7000" endPos="64000" dist="50800" dir="5400000" sy="-100000" algn="bl" rotWithShape="0"/>
          </a:effectLst>
        </p:spPr>
      </p:pic>
    </p:spTree>
    <p:extLst>
      <p:ext uri="{BB962C8B-B14F-4D97-AF65-F5344CB8AC3E}">
        <p14:creationId xmlns:p14="http://schemas.microsoft.com/office/powerpoint/2010/main" val="4056550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4F21C-4855-6BE3-3C6F-E50BE3896030}"/>
              </a:ext>
            </a:extLst>
          </p:cNvPr>
          <p:cNvSpPr>
            <a:spLocks noGrp="1"/>
          </p:cNvSpPr>
          <p:nvPr>
            <p:ph type="title"/>
          </p:nvPr>
        </p:nvSpPr>
        <p:spPr>
          <a:xfrm>
            <a:off x="1219200" y="983294"/>
            <a:ext cx="8761413" cy="706964"/>
          </a:xfrm>
        </p:spPr>
        <p:txBody>
          <a:bodyPr/>
          <a:lstStyle/>
          <a:p>
            <a:pPr algn="ctr"/>
            <a:r>
              <a:rPr lang="en-US" b="1" dirty="0"/>
              <a:t>Presentation Flow</a:t>
            </a:r>
            <a:endParaRPr lang="en-IN" b="1" dirty="0"/>
          </a:p>
        </p:txBody>
      </p:sp>
      <p:sp>
        <p:nvSpPr>
          <p:cNvPr id="13" name="Content Placeholder 12">
            <a:extLst>
              <a:ext uri="{FF2B5EF4-FFF2-40B4-BE49-F238E27FC236}">
                <a16:creationId xmlns:a16="http://schemas.microsoft.com/office/drawing/2014/main" id="{583ADCC7-BB63-8E2A-6BC9-52A4C3EA6743}"/>
              </a:ext>
            </a:extLst>
          </p:cNvPr>
          <p:cNvSpPr>
            <a:spLocks noGrp="1"/>
          </p:cNvSpPr>
          <p:nvPr>
            <p:ph idx="1"/>
          </p:nvPr>
        </p:nvSpPr>
        <p:spPr/>
        <p:txBody>
          <a:bodyPr/>
          <a:lstStyle/>
          <a:p>
            <a:endParaRPr lang="en-IN"/>
          </a:p>
        </p:txBody>
      </p:sp>
      <p:sp>
        <p:nvSpPr>
          <p:cNvPr id="15" name="Rectangle 14">
            <a:extLst>
              <a:ext uri="{FF2B5EF4-FFF2-40B4-BE49-F238E27FC236}">
                <a16:creationId xmlns:a16="http://schemas.microsoft.com/office/drawing/2014/main" id="{2D71D41A-1766-233E-D6C9-7E35C3CCE5B5}"/>
              </a:ext>
            </a:extLst>
          </p:cNvPr>
          <p:cNvSpPr/>
          <p:nvPr/>
        </p:nvSpPr>
        <p:spPr>
          <a:xfrm>
            <a:off x="853440" y="2385060"/>
            <a:ext cx="10769600" cy="4168140"/>
          </a:xfrm>
          <a:prstGeom prst="rect">
            <a:avLst/>
          </a:prstGeom>
          <a:solidFill>
            <a:srgbClr val="723E9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6FECCF08-00C9-DA26-5754-4570519A5BC8}"/>
              </a:ext>
            </a:extLst>
          </p:cNvPr>
          <p:cNvSpPr/>
          <p:nvPr/>
        </p:nvSpPr>
        <p:spPr>
          <a:xfrm>
            <a:off x="1219200" y="2603500"/>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2700000" scaled="1"/>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 Introduction</a:t>
            </a:r>
            <a:endParaRPr lang="en-IN" sz="2400" dirty="0">
              <a:solidFill>
                <a:schemeClr val="tx1"/>
              </a:solidFill>
            </a:endParaRPr>
          </a:p>
        </p:txBody>
      </p:sp>
      <p:sp>
        <p:nvSpPr>
          <p:cNvPr id="18" name="Rectangle 17">
            <a:extLst>
              <a:ext uri="{FF2B5EF4-FFF2-40B4-BE49-F238E27FC236}">
                <a16:creationId xmlns:a16="http://schemas.microsoft.com/office/drawing/2014/main" id="{F43C7D04-B616-317B-A60D-9C4742E935D8}"/>
              </a:ext>
            </a:extLst>
          </p:cNvPr>
          <p:cNvSpPr/>
          <p:nvPr/>
        </p:nvSpPr>
        <p:spPr>
          <a:xfrm>
            <a:off x="4724400" y="2618740"/>
            <a:ext cx="3027680" cy="535940"/>
          </a:xfrm>
          <a:prstGeom prst="rect">
            <a:avLst/>
          </a:prstGeom>
          <a:gradFill flip="none" rotWithShape="1">
            <a:gsLst>
              <a:gs pos="15000">
                <a:srgbClr val="FFFF00">
                  <a:shade val="30000"/>
                  <a:satMod val="115000"/>
                </a:srgbClr>
              </a:gs>
              <a:gs pos="50000">
                <a:srgbClr val="FFFF00">
                  <a:shade val="67500"/>
                  <a:satMod val="115000"/>
                </a:srgbClr>
              </a:gs>
              <a:gs pos="100000">
                <a:srgbClr val="FFFF00">
                  <a:shade val="100000"/>
                  <a:satMod val="115000"/>
                </a:srgbClr>
              </a:gs>
            </a:gsLst>
            <a:lin ang="2700000" scaled="1"/>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5.Data Modeling</a:t>
            </a:r>
            <a:endParaRPr lang="en-IN" sz="2000" dirty="0">
              <a:solidFill>
                <a:schemeClr val="tx1"/>
              </a:solidFill>
            </a:endParaRPr>
          </a:p>
        </p:txBody>
      </p:sp>
      <p:sp>
        <p:nvSpPr>
          <p:cNvPr id="20" name="Rectangle 19">
            <a:extLst>
              <a:ext uri="{FF2B5EF4-FFF2-40B4-BE49-F238E27FC236}">
                <a16:creationId xmlns:a16="http://schemas.microsoft.com/office/drawing/2014/main" id="{89A9F2EA-F961-FABE-DC74-A38090145882}"/>
              </a:ext>
            </a:extLst>
          </p:cNvPr>
          <p:cNvSpPr/>
          <p:nvPr/>
        </p:nvSpPr>
        <p:spPr>
          <a:xfrm>
            <a:off x="8229600" y="2620010"/>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r="100000" b="100000"/>
            </a:path>
            <a:tileRect l="-100000" t="-100000"/>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9.Dashboard Overview</a:t>
            </a:r>
            <a:endParaRPr lang="en-IN" sz="2000" dirty="0">
              <a:solidFill>
                <a:schemeClr val="tx1"/>
              </a:solidFill>
            </a:endParaRPr>
          </a:p>
        </p:txBody>
      </p:sp>
      <p:sp>
        <p:nvSpPr>
          <p:cNvPr id="22" name="Rectangle 21">
            <a:extLst>
              <a:ext uri="{FF2B5EF4-FFF2-40B4-BE49-F238E27FC236}">
                <a16:creationId xmlns:a16="http://schemas.microsoft.com/office/drawing/2014/main" id="{6D81A98D-A882-B89E-F487-3DB02F37639D}"/>
              </a:ext>
            </a:extLst>
          </p:cNvPr>
          <p:cNvSpPr/>
          <p:nvPr/>
        </p:nvSpPr>
        <p:spPr>
          <a:xfrm>
            <a:off x="1212373" y="3566272"/>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2700000" scaled="1"/>
            <a:tileRect/>
          </a:gra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 Project Objective</a:t>
            </a:r>
            <a:endParaRPr lang="en-IN" sz="2000" dirty="0">
              <a:solidFill>
                <a:schemeClr val="tx1"/>
              </a:solidFill>
            </a:endParaRPr>
          </a:p>
        </p:txBody>
      </p:sp>
      <p:sp>
        <p:nvSpPr>
          <p:cNvPr id="24" name="Rectangle 23">
            <a:extLst>
              <a:ext uri="{FF2B5EF4-FFF2-40B4-BE49-F238E27FC236}">
                <a16:creationId xmlns:a16="http://schemas.microsoft.com/office/drawing/2014/main" id="{27E81D82-1ED9-B350-3252-4AF87D5B6ED9}"/>
              </a:ext>
            </a:extLst>
          </p:cNvPr>
          <p:cNvSpPr/>
          <p:nvPr/>
        </p:nvSpPr>
        <p:spPr>
          <a:xfrm>
            <a:off x="4724400" y="3511551"/>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2700000" scaled="1"/>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6.Dax Measures</a:t>
            </a:r>
            <a:endParaRPr lang="en-IN" sz="2000" dirty="0">
              <a:solidFill>
                <a:schemeClr val="tx1"/>
              </a:solidFill>
            </a:endParaRPr>
          </a:p>
        </p:txBody>
      </p:sp>
      <p:sp>
        <p:nvSpPr>
          <p:cNvPr id="26" name="Rectangle 25">
            <a:extLst>
              <a:ext uri="{FF2B5EF4-FFF2-40B4-BE49-F238E27FC236}">
                <a16:creationId xmlns:a16="http://schemas.microsoft.com/office/drawing/2014/main" id="{DDFC4627-10A9-61DE-32CA-7953CF239592}"/>
              </a:ext>
            </a:extLst>
          </p:cNvPr>
          <p:cNvSpPr/>
          <p:nvPr/>
        </p:nvSpPr>
        <p:spPr>
          <a:xfrm>
            <a:off x="8236427" y="3491230"/>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6200000" scaled="1"/>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10. Conclusion</a:t>
            </a:r>
            <a:endParaRPr lang="en-IN" sz="2000" dirty="0">
              <a:solidFill>
                <a:schemeClr val="tx1"/>
              </a:solidFill>
            </a:endParaRPr>
          </a:p>
        </p:txBody>
      </p:sp>
      <p:sp>
        <p:nvSpPr>
          <p:cNvPr id="28" name="Rectangle 27">
            <a:extLst>
              <a:ext uri="{FF2B5EF4-FFF2-40B4-BE49-F238E27FC236}">
                <a16:creationId xmlns:a16="http://schemas.microsoft.com/office/drawing/2014/main" id="{B7D7E9A7-2BBD-5972-DD15-9048808F360C}"/>
              </a:ext>
            </a:extLst>
          </p:cNvPr>
          <p:cNvSpPr/>
          <p:nvPr/>
        </p:nvSpPr>
        <p:spPr>
          <a:xfrm>
            <a:off x="1219200" y="4439341"/>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8900000" scaled="1"/>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 Dataset Overview</a:t>
            </a:r>
            <a:endParaRPr lang="en-IN" dirty="0">
              <a:solidFill>
                <a:schemeClr val="tx1"/>
              </a:solidFill>
            </a:endParaRPr>
          </a:p>
        </p:txBody>
      </p:sp>
      <p:sp>
        <p:nvSpPr>
          <p:cNvPr id="30" name="Rectangle 29">
            <a:extLst>
              <a:ext uri="{FF2B5EF4-FFF2-40B4-BE49-F238E27FC236}">
                <a16:creationId xmlns:a16="http://schemas.microsoft.com/office/drawing/2014/main" id="{856FF34F-8516-ABB6-D6F1-6F15469A9E7C}"/>
              </a:ext>
            </a:extLst>
          </p:cNvPr>
          <p:cNvSpPr/>
          <p:nvPr/>
        </p:nvSpPr>
        <p:spPr>
          <a:xfrm>
            <a:off x="1219200" y="5312410"/>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8100000" scaled="1"/>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4. Data Cleaning</a:t>
            </a:r>
            <a:endParaRPr lang="en-IN" sz="2000" dirty="0">
              <a:solidFill>
                <a:schemeClr val="tx1"/>
              </a:solidFill>
            </a:endParaRPr>
          </a:p>
        </p:txBody>
      </p:sp>
      <p:sp>
        <p:nvSpPr>
          <p:cNvPr id="32" name="Rectangle 31">
            <a:extLst>
              <a:ext uri="{FF2B5EF4-FFF2-40B4-BE49-F238E27FC236}">
                <a16:creationId xmlns:a16="http://schemas.microsoft.com/office/drawing/2014/main" id="{D78DFF48-8718-CE4D-2278-4D78C3B08739}"/>
              </a:ext>
            </a:extLst>
          </p:cNvPr>
          <p:cNvSpPr/>
          <p:nvPr/>
        </p:nvSpPr>
        <p:spPr>
          <a:xfrm>
            <a:off x="4724400" y="4419602"/>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0" scaled="1"/>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7.KPI &amp;Chart Analysis</a:t>
            </a:r>
            <a:endParaRPr lang="en-IN" sz="2000" dirty="0">
              <a:solidFill>
                <a:schemeClr val="tx1"/>
              </a:solidFill>
            </a:endParaRPr>
          </a:p>
        </p:txBody>
      </p:sp>
      <p:sp>
        <p:nvSpPr>
          <p:cNvPr id="34" name="Rectangle 33">
            <a:extLst>
              <a:ext uri="{FF2B5EF4-FFF2-40B4-BE49-F238E27FC236}">
                <a16:creationId xmlns:a16="http://schemas.microsoft.com/office/drawing/2014/main" id="{25621ACF-54C0-41C8-B23C-A49A055F58E6}"/>
              </a:ext>
            </a:extLst>
          </p:cNvPr>
          <p:cNvSpPr/>
          <p:nvPr/>
        </p:nvSpPr>
        <p:spPr>
          <a:xfrm>
            <a:off x="4724400" y="5312410"/>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8. Slicers</a:t>
            </a:r>
            <a:endParaRPr lang="en-IN" sz="2400" dirty="0">
              <a:solidFill>
                <a:schemeClr val="tx1"/>
              </a:solidFill>
            </a:endParaRPr>
          </a:p>
        </p:txBody>
      </p:sp>
      <p:sp>
        <p:nvSpPr>
          <p:cNvPr id="36" name="Rectangle 35">
            <a:extLst>
              <a:ext uri="{FF2B5EF4-FFF2-40B4-BE49-F238E27FC236}">
                <a16:creationId xmlns:a16="http://schemas.microsoft.com/office/drawing/2014/main" id="{21FBBAB6-EE28-A7AD-1FDE-ADB8F2031D80}"/>
              </a:ext>
            </a:extLst>
          </p:cNvPr>
          <p:cNvSpPr/>
          <p:nvPr/>
        </p:nvSpPr>
        <p:spPr>
          <a:xfrm>
            <a:off x="8236427" y="4442460"/>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10800000" scaled="1"/>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11. Future Scope</a:t>
            </a:r>
            <a:endParaRPr lang="en-IN" sz="2000" dirty="0">
              <a:solidFill>
                <a:schemeClr val="tx1"/>
              </a:solidFill>
            </a:endParaRPr>
          </a:p>
        </p:txBody>
      </p:sp>
      <p:sp>
        <p:nvSpPr>
          <p:cNvPr id="38" name="Rectangle 37">
            <a:extLst>
              <a:ext uri="{FF2B5EF4-FFF2-40B4-BE49-F238E27FC236}">
                <a16:creationId xmlns:a16="http://schemas.microsoft.com/office/drawing/2014/main" id="{76A97380-AC83-B006-92C1-A2878C239BC1}"/>
              </a:ext>
            </a:extLst>
          </p:cNvPr>
          <p:cNvSpPr/>
          <p:nvPr/>
        </p:nvSpPr>
        <p:spPr>
          <a:xfrm>
            <a:off x="8229600" y="5338766"/>
            <a:ext cx="3027680" cy="535940"/>
          </a:xfrm>
          <a:prstGeom prst="rect">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lin ang="0" scaled="1"/>
            <a:tileRect/>
          </a:gra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12. References</a:t>
            </a:r>
            <a:endParaRPr lang="en-IN" sz="2000" dirty="0">
              <a:solidFill>
                <a:schemeClr val="tx1"/>
              </a:solidFill>
            </a:endParaRPr>
          </a:p>
        </p:txBody>
      </p:sp>
    </p:spTree>
    <p:extLst>
      <p:ext uri="{BB962C8B-B14F-4D97-AF65-F5344CB8AC3E}">
        <p14:creationId xmlns:p14="http://schemas.microsoft.com/office/powerpoint/2010/main" val="3613498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9D187-E82C-A832-FE05-6C9816B7F3A1}"/>
              </a:ext>
            </a:extLst>
          </p:cNvPr>
          <p:cNvSpPr>
            <a:spLocks noGrp="1"/>
          </p:cNvSpPr>
          <p:nvPr>
            <p:ph type="title"/>
          </p:nvPr>
        </p:nvSpPr>
        <p:spPr/>
        <p:txBody>
          <a:bodyPr/>
          <a:lstStyle/>
          <a:p>
            <a:pPr algn="ctr"/>
            <a:r>
              <a:rPr lang="en-US" dirty="0"/>
              <a:t>Introduction</a:t>
            </a:r>
            <a:endParaRPr lang="en-IN" dirty="0"/>
          </a:p>
        </p:txBody>
      </p:sp>
      <p:pic>
        <p:nvPicPr>
          <p:cNvPr id="5" name="Content Placeholder 4">
            <a:extLst>
              <a:ext uri="{FF2B5EF4-FFF2-40B4-BE49-F238E27FC236}">
                <a16:creationId xmlns:a16="http://schemas.microsoft.com/office/drawing/2014/main" id="{AC396FB7-B81A-F819-7B4E-CD4D38E0C3FD}"/>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553200" y="2569632"/>
            <a:ext cx="5402112" cy="3038688"/>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6" name="TextBox 5">
            <a:extLst>
              <a:ext uri="{FF2B5EF4-FFF2-40B4-BE49-F238E27FC236}">
                <a16:creationId xmlns:a16="http://schemas.microsoft.com/office/drawing/2014/main" id="{1870402B-0F60-C8D9-DA8B-F794BE727966}"/>
              </a:ext>
            </a:extLst>
          </p:cNvPr>
          <p:cNvSpPr txBox="1"/>
          <p:nvPr/>
        </p:nvSpPr>
        <p:spPr>
          <a:xfrm>
            <a:off x="658416" y="2417232"/>
            <a:ext cx="5894784" cy="3416320"/>
          </a:xfrm>
          <a:prstGeom prst="rect">
            <a:avLst/>
          </a:prstGeom>
          <a:noFill/>
        </p:spPr>
        <p:txBody>
          <a:bodyPr wrap="square" rtlCol="0">
            <a:spAutoFit/>
          </a:bodyPr>
          <a:lstStyle/>
          <a:p>
            <a:r>
              <a:rPr lang="en-IN" sz="2400" dirty="0"/>
              <a:t>A </a:t>
            </a:r>
            <a:r>
              <a:rPr lang="en-IN" sz="2400" b="1" dirty="0"/>
              <a:t>Bank Loan Analytics Dashboard in Power BI</a:t>
            </a:r>
            <a:r>
              <a:rPr lang="en-IN" sz="2400" dirty="0"/>
              <a:t> transforms raw lending and financial data into interactive, real-time insights. It enables bank management and risk teams to track critical KPIs (like total funded amounts, average interest rates, and loan statuses), monitor portfolio health, and evaluate default risks. </a:t>
            </a:r>
          </a:p>
        </p:txBody>
      </p:sp>
    </p:spTree>
    <p:extLst>
      <p:ext uri="{BB962C8B-B14F-4D97-AF65-F5344CB8AC3E}">
        <p14:creationId xmlns:p14="http://schemas.microsoft.com/office/powerpoint/2010/main" val="290765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F8F27-FF58-5887-DD16-5E4351EA4301}"/>
              </a:ext>
            </a:extLst>
          </p:cNvPr>
          <p:cNvSpPr>
            <a:spLocks noGrp="1"/>
          </p:cNvSpPr>
          <p:nvPr>
            <p:ph type="title"/>
          </p:nvPr>
        </p:nvSpPr>
        <p:spPr/>
        <p:txBody>
          <a:bodyPr/>
          <a:lstStyle/>
          <a:p>
            <a:pPr algn="ctr"/>
            <a:r>
              <a:rPr lang="en-US" dirty="0"/>
              <a:t>Project Objective</a:t>
            </a:r>
            <a:endParaRPr lang="en-IN" dirty="0"/>
          </a:p>
        </p:txBody>
      </p:sp>
      <p:pic>
        <p:nvPicPr>
          <p:cNvPr id="8" name="Picture 7">
            <a:extLst>
              <a:ext uri="{FF2B5EF4-FFF2-40B4-BE49-F238E27FC236}">
                <a16:creationId xmlns:a16="http://schemas.microsoft.com/office/drawing/2014/main" id="{2B9026B3-BEBE-7317-DDAB-85161098A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874" y="3113404"/>
            <a:ext cx="11561446" cy="3648835"/>
          </a:xfrm>
          <a:prstGeom prst="rect">
            <a:avLst/>
          </a:prstGeom>
        </p:spPr>
      </p:pic>
      <p:sp>
        <p:nvSpPr>
          <p:cNvPr id="9" name="TextBox 8">
            <a:extLst>
              <a:ext uri="{FF2B5EF4-FFF2-40B4-BE49-F238E27FC236}">
                <a16:creationId xmlns:a16="http://schemas.microsoft.com/office/drawing/2014/main" id="{CCBBFB47-8659-EF47-1A62-40E081B31635}"/>
              </a:ext>
            </a:extLst>
          </p:cNvPr>
          <p:cNvSpPr txBox="1"/>
          <p:nvPr/>
        </p:nvSpPr>
        <p:spPr>
          <a:xfrm>
            <a:off x="772476" y="2576198"/>
            <a:ext cx="1828483" cy="923330"/>
          </a:xfrm>
          <a:prstGeom prst="rect">
            <a:avLst/>
          </a:prstGeom>
          <a:solidFill>
            <a:srgbClr val="723E92"/>
          </a:solidFill>
        </p:spPr>
        <p:txBody>
          <a:bodyPr wrap="square" rtlCol="0">
            <a:spAutoFit/>
          </a:bodyPr>
          <a:lstStyle/>
          <a:p>
            <a:r>
              <a:rPr lang="en-IN" dirty="0">
                <a:solidFill>
                  <a:schemeClr val="bg1"/>
                </a:solidFill>
              </a:rPr>
              <a:t>Portfolio Performance &amp; KPIs</a:t>
            </a:r>
          </a:p>
        </p:txBody>
      </p:sp>
      <p:sp>
        <p:nvSpPr>
          <p:cNvPr id="15" name="TextBox 14">
            <a:extLst>
              <a:ext uri="{FF2B5EF4-FFF2-40B4-BE49-F238E27FC236}">
                <a16:creationId xmlns:a16="http://schemas.microsoft.com/office/drawing/2014/main" id="{F0502319-0E8B-3711-EE2C-D871D324054F}"/>
              </a:ext>
            </a:extLst>
          </p:cNvPr>
          <p:cNvSpPr txBox="1"/>
          <p:nvPr/>
        </p:nvSpPr>
        <p:spPr>
          <a:xfrm>
            <a:off x="3074484" y="2768067"/>
            <a:ext cx="1828483" cy="646331"/>
          </a:xfrm>
          <a:prstGeom prst="rect">
            <a:avLst/>
          </a:prstGeom>
          <a:solidFill>
            <a:srgbClr val="723E92"/>
          </a:solidFill>
        </p:spPr>
        <p:txBody>
          <a:bodyPr wrap="square" rtlCol="0">
            <a:spAutoFit/>
          </a:bodyPr>
          <a:lstStyle/>
          <a:p>
            <a:r>
              <a:rPr lang="en-IN" dirty="0">
                <a:solidFill>
                  <a:schemeClr val="bg1"/>
                </a:solidFill>
              </a:rPr>
              <a:t>Risk Management</a:t>
            </a:r>
          </a:p>
        </p:txBody>
      </p:sp>
      <p:sp>
        <p:nvSpPr>
          <p:cNvPr id="17" name="TextBox 16">
            <a:extLst>
              <a:ext uri="{FF2B5EF4-FFF2-40B4-BE49-F238E27FC236}">
                <a16:creationId xmlns:a16="http://schemas.microsoft.com/office/drawing/2014/main" id="{F6ACC6CB-B5F5-CB89-EA89-1F548CE7174C}"/>
              </a:ext>
            </a:extLst>
          </p:cNvPr>
          <p:cNvSpPr txBox="1"/>
          <p:nvPr/>
        </p:nvSpPr>
        <p:spPr>
          <a:xfrm>
            <a:off x="5263355" y="2763625"/>
            <a:ext cx="1828483" cy="646331"/>
          </a:xfrm>
          <a:prstGeom prst="rect">
            <a:avLst/>
          </a:prstGeom>
          <a:solidFill>
            <a:srgbClr val="723E92"/>
          </a:solidFill>
        </p:spPr>
        <p:txBody>
          <a:bodyPr wrap="square" rtlCol="0">
            <a:spAutoFit/>
          </a:bodyPr>
          <a:lstStyle/>
          <a:p>
            <a:r>
              <a:rPr lang="en-IN" dirty="0">
                <a:solidFill>
                  <a:schemeClr val="bg1"/>
                </a:solidFill>
              </a:rPr>
              <a:t>Time-Based Analysis</a:t>
            </a:r>
          </a:p>
        </p:txBody>
      </p:sp>
      <p:sp>
        <p:nvSpPr>
          <p:cNvPr id="19" name="TextBox 18">
            <a:extLst>
              <a:ext uri="{FF2B5EF4-FFF2-40B4-BE49-F238E27FC236}">
                <a16:creationId xmlns:a16="http://schemas.microsoft.com/office/drawing/2014/main" id="{671F49E6-AE0A-EB5E-7B00-D77BA63F019B}"/>
              </a:ext>
            </a:extLst>
          </p:cNvPr>
          <p:cNvSpPr txBox="1"/>
          <p:nvPr/>
        </p:nvSpPr>
        <p:spPr>
          <a:xfrm>
            <a:off x="7289035" y="2763624"/>
            <a:ext cx="1828483" cy="646331"/>
          </a:xfrm>
          <a:prstGeom prst="rect">
            <a:avLst/>
          </a:prstGeom>
          <a:solidFill>
            <a:srgbClr val="723E92"/>
          </a:solidFill>
        </p:spPr>
        <p:txBody>
          <a:bodyPr wrap="square" rtlCol="0">
            <a:spAutoFit/>
          </a:bodyPr>
          <a:lstStyle/>
          <a:p>
            <a:r>
              <a:rPr lang="en-IN" dirty="0">
                <a:solidFill>
                  <a:schemeClr val="bg1"/>
                </a:solidFill>
              </a:rPr>
              <a:t>Borrower Analysis</a:t>
            </a:r>
          </a:p>
        </p:txBody>
      </p:sp>
      <p:sp>
        <p:nvSpPr>
          <p:cNvPr id="21" name="TextBox 20">
            <a:extLst>
              <a:ext uri="{FF2B5EF4-FFF2-40B4-BE49-F238E27FC236}">
                <a16:creationId xmlns:a16="http://schemas.microsoft.com/office/drawing/2014/main" id="{E160EDE0-E861-4BC3-3139-24F1848A56FD}"/>
              </a:ext>
            </a:extLst>
          </p:cNvPr>
          <p:cNvSpPr txBox="1"/>
          <p:nvPr/>
        </p:nvSpPr>
        <p:spPr>
          <a:xfrm>
            <a:off x="9395790" y="2763624"/>
            <a:ext cx="1828483" cy="646331"/>
          </a:xfrm>
          <a:prstGeom prst="rect">
            <a:avLst/>
          </a:prstGeom>
          <a:solidFill>
            <a:srgbClr val="723E92"/>
          </a:solidFill>
        </p:spPr>
        <p:txBody>
          <a:bodyPr wrap="square" rtlCol="0">
            <a:spAutoFit/>
          </a:bodyPr>
          <a:lstStyle/>
          <a:p>
            <a:r>
              <a:rPr lang="en-IN" dirty="0">
                <a:solidFill>
                  <a:schemeClr val="bg1"/>
                </a:solidFill>
              </a:rPr>
              <a:t>Geographical Insights</a:t>
            </a:r>
          </a:p>
        </p:txBody>
      </p:sp>
    </p:spTree>
    <p:extLst>
      <p:ext uri="{BB962C8B-B14F-4D97-AF65-F5344CB8AC3E}">
        <p14:creationId xmlns:p14="http://schemas.microsoft.com/office/powerpoint/2010/main" val="2118970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6DCA9-A53E-3BA3-C461-179C40A1772D}"/>
              </a:ext>
            </a:extLst>
          </p:cNvPr>
          <p:cNvSpPr>
            <a:spLocks noGrp="1"/>
          </p:cNvSpPr>
          <p:nvPr>
            <p:ph type="title"/>
          </p:nvPr>
        </p:nvSpPr>
        <p:spPr/>
        <p:txBody>
          <a:bodyPr/>
          <a:lstStyle/>
          <a:p>
            <a:pPr algn="ctr"/>
            <a:r>
              <a:rPr lang="en-US" dirty="0"/>
              <a:t>Dataset Overview</a:t>
            </a:r>
            <a:endParaRPr lang="en-IN" dirty="0"/>
          </a:p>
        </p:txBody>
      </p:sp>
      <p:pic>
        <p:nvPicPr>
          <p:cNvPr id="5" name="Picture 4">
            <a:extLst>
              <a:ext uri="{FF2B5EF4-FFF2-40B4-BE49-F238E27FC236}">
                <a16:creationId xmlns:a16="http://schemas.microsoft.com/office/drawing/2014/main" id="{8E7BB1DC-D96C-9F28-8696-17ABACE89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560" y="2377440"/>
            <a:ext cx="2884600" cy="2631440"/>
          </a:xfrm>
          <a:prstGeom prst="rect">
            <a:avLst/>
          </a:prstGeom>
          <a:effectLst>
            <a:glow>
              <a:schemeClr val="accent1">
                <a:alpha val="40000"/>
              </a:schemeClr>
            </a:glow>
            <a:reflection endPos="65000" dist="50800" dir="5400000" sy="-100000" algn="bl" rotWithShape="0"/>
            <a:softEdge rad="0"/>
          </a:effectLst>
          <a:scene3d>
            <a:camera prst="orthographicFront"/>
            <a:lightRig rig="twoPt" dir="t"/>
          </a:scene3d>
          <a:sp3d extrusionH="76200">
            <a:extrusionClr>
              <a:srgbClr val="961EB2"/>
            </a:extrusionClr>
          </a:sp3d>
        </p:spPr>
      </p:pic>
      <p:sp>
        <p:nvSpPr>
          <p:cNvPr id="7" name="TextBox 6">
            <a:extLst>
              <a:ext uri="{FF2B5EF4-FFF2-40B4-BE49-F238E27FC236}">
                <a16:creationId xmlns:a16="http://schemas.microsoft.com/office/drawing/2014/main" id="{CD02C513-FAF1-07A4-0D52-F50EE4BAA66C}"/>
              </a:ext>
            </a:extLst>
          </p:cNvPr>
          <p:cNvSpPr txBox="1"/>
          <p:nvPr/>
        </p:nvSpPr>
        <p:spPr>
          <a:xfrm>
            <a:off x="4078224" y="2715768"/>
            <a:ext cx="6720840" cy="1477328"/>
          </a:xfrm>
          <a:prstGeom prst="rect">
            <a:avLst/>
          </a:prstGeom>
          <a:noFill/>
        </p:spPr>
        <p:txBody>
          <a:bodyPr wrap="square" rtlCol="0">
            <a:spAutoFit/>
          </a:bodyPr>
          <a:lstStyle/>
          <a:p>
            <a:r>
              <a:rPr lang="en-IN" b="1" dirty="0"/>
              <a:t>This bank loan dataset</a:t>
            </a:r>
            <a:r>
              <a:rPr lang="en-IN" dirty="0"/>
              <a:t> that contains </a:t>
            </a:r>
            <a:r>
              <a:rPr lang="en-IN" b="1" dirty="0"/>
              <a:t>38,577 loan records</a:t>
            </a:r>
            <a:r>
              <a:rPr lang="en-IN" dirty="0"/>
              <a:t> and </a:t>
            </a:r>
            <a:r>
              <a:rPr lang="en-IN" b="1" dirty="0"/>
              <a:t>23 columns</a:t>
            </a:r>
            <a:r>
              <a:rPr lang="en-IN" dirty="0"/>
              <a:t>. It is designed for </a:t>
            </a:r>
            <a:r>
              <a:rPr lang="en-IN" dirty="0" err="1"/>
              <a:t>analyzing</a:t>
            </a:r>
            <a:r>
              <a:rPr lang="en-IN" dirty="0"/>
              <a:t> loan applications, borrower profiles, loan performance, and repayment </a:t>
            </a:r>
            <a:r>
              <a:rPr lang="en-IN" dirty="0" err="1"/>
              <a:t>behavior</a:t>
            </a:r>
            <a:r>
              <a:rPr lang="en-IN" dirty="0"/>
              <a:t>.</a:t>
            </a:r>
          </a:p>
          <a:p>
            <a:r>
              <a:rPr lang="en-IN" b="1" dirty="0"/>
              <a:t>This Dataset Contains:</a:t>
            </a:r>
          </a:p>
        </p:txBody>
      </p:sp>
      <p:graphicFrame>
        <p:nvGraphicFramePr>
          <p:cNvPr id="17" name="Table 16">
            <a:extLst>
              <a:ext uri="{FF2B5EF4-FFF2-40B4-BE49-F238E27FC236}">
                <a16:creationId xmlns:a16="http://schemas.microsoft.com/office/drawing/2014/main" id="{9EA50B2D-D6D3-CF5D-77A5-DF8A4FDCDBDE}"/>
              </a:ext>
            </a:extLst>
          </p:cNvPr>
          <p:cNvGraphicFramePr>
            <a:graphicFrameLocks noGrp="1"/>
          </p:cNvGraphicFramePr>
          <p:nvPr>
            <p:extLst>
              <p:ext uri="{D42A27DB-BD31-4B8C-83A1-F6EECF244321}">
                <p14:modId xmlns:p14="http://schemas.microsoft.com/office/powerpoint/2010/main" val="1405662579"/>
              </p:ext>
            </p:extLst>
          </p:nvPr>
        </p:nvGraphicFramePr>
        <p:xfrm>
          <a:off x="4078224" y="4270249"/>
          <a:ext cx="7415784" cy="2263901"/>
        </p:xfrm>
        <a:graphic>
          <a:graphicData uri="http://schemas.openxmlformats.org/drawingml/2006/table">
            <a:tbl>
              <a:tblPr firstRow="1" bandRow="1">
                <a:effectLst>
                  <a:outerShdw blurRad="63500" dist="38100" dir="5400000" rotWithShape="0">
                    <a:srgbClr val="FFFF00">
                      <a:alpha val="60000"/>
                    </a:srgbClr>
                  </a:outerShdw>
                </a:effectLst>
                <a:tableStyleId>{638B1855-1B75-4FBE-930C-398BA8C253C6}</a:tableStyleId>
              </a:tblPr>
              <a:tblGrid>
                <a:gridCol w="2176799">
                  <a:extLst>
                    <a:ext uri="{9D8B030D-6E8A-4147-A177-3AD203B41FA5}">
                      <a16:colId xmlns:a16="http://schemas.microsoft.com/office/drawing/2014/main" val="2863154344"/>
                    </a:ext>
                  </a:extLst>
                </a:gridCol>
                <a:gridCol w="5238985">
                  <a:extLst>
                    <a:ext uri="{9D8B030D-6E8A-4147-A177-3AD203B41FA5}">
                      <a16:colId xmlns:a16="http://schemas.microsoft.com/office/drawing/2014/main" val="2904809599"/>
                    </a:ext>
                  </a:extLst>
                </a:gridCol>
              </a:tblGrid>
              <a:tr h="328930">
                <a:tc>
                  <a:txBody>
                    <a:bodyPr/>
                    <a:lstStyle/>
                    <a:p>
                      <a:r>
                        <a:rPr lang="en-IN" dirty="0"/>
                        <a:t>Loan Information</a:t>
                      </a:r>
                    </a:p>
                  </a:txBody>
                  <a:tcPr>
                    <a:noFill/>
                  </a:tcPr>
                </a:tc>
                <a:tc>
                  <a:txBody>
                    <a:bodyPr/>
                    <a:lstStyle/>
                    <a:p>
                      <a:r>
                        <a:rPr lang="en-IN" dirty="0"/>
                        <a:t>ISSUE_DATE, LOAN_AMOUNT, TERM, PURPOSE, GRADE, SUB_GRADE</a:t>
                      </a:r>
                    </a:p>
                  </a:txBody>
                  <a:tcPr>
                    <a:noFill/>
                  </a:tcPr>
                </a:tc>
                <a:extLst>
                  <a:ext uri="{0D108BD9-81ED-4DB2-BD59-A6C34878D82A}">
                    <a16:rowId xmlns:a16="http://schemas.microsoft.com/office/drawing/2014/main" val="683022190"/>
                  </a:ext>
                </a:extLst>
              </a:tr>
              <a:tr h="709421">
                <a:tc>
                  <a:txBody>
                    <a:bodyPr/>
                    <a:lstStyle/>
                    <a:p>
                      <a:r>
                        <a:rPr lang="en-IN" dirty="0"/>
                        <a:t>Borrower Information</a:t>
                      </a:r>
                    </a:p>
                  </a:txBody>
                  <a:tcPr>
                    <a:noFill/>
                  </a:tcPr>
                </a:tc>
                <a:tc>
                  <a:txBody>
                    <a:bodyPr/>
                    <a:lstStyle/>
                    <a:p>
                      <a:r>
                        <a:rPr lang="en-IN" dirty="0"/>
                        <a:t>EMP_LENGTH, EMP_TITLE, ANNUAL_INCOME, HOME_OWNERSHIP, VERIFICATION_STATUS</a:t>
                      </a:r>
                    </a:p>
                  </a:txBody>
                  <a:tcPr>
                    <a:noFill/>
                  </a:tcPr>
                </a:tc>
                <a:extLst>
                  <a:ext uri="{0D108BD9-81ED-4DB2-BD59-A6C34878D82A}">
                    <a16:rowId xmlns:a16="http://schemas.microsoft.com/office/drawing/2014/main" val="3304792191"/>
                  </a:ext>
                </a:extLst>
              </a:tr>
              <a:tr h="751840">
                <a:tc>
                  <a:txBody>
                    <a:bodyPr/>
                    <a:lstStyle/>
                    <a:p>
                      <a:r>
                        <a:rPr lang="en-IN" dirty="0"/>
                        <a:t>Financial Metrics, Payment Dates</a:t>
                      </a:r>
                    </a:p>
                  </a:txBody>
                  <a:tcPr>
                    <a:noFill/>
                  </a:tcPr>
                </a:tc>
                <a:tc>
                  <a:txBody>
                    <a:bodyPr/>
                    <a:lstStyle/>
                    <a:p>
                      <a:r>
                        <a:rPr lang="en-IN" dirty="0"/>
                        <a:t>INT_RATE, DTI, INSTALLMENT, TOTAL_PAYMENT, LAST_PAYMENT_DATE, NEXT_PAYMENT_DATE, LAST_CREDIT_PULL_DATE</a:t>
                      </a:r>
                    </a:p>
                  </a:txBody>
                  <a:tcPr>
                    <a:noFill/>
                  </a:tcPr>
                </a:tc>
                <a:extLst>
                  <a:ext uri="{0D108BD9-81ED-4DB2-BD59-A6C34878D82A}">
                    <a16:rowId xmlns:a16="http://schemas.microsoft.com/office/drawing/2014/main" val="2354658141"/>
                  </a:ext>
                </a:extLst>
              </a:tr>
            </a:tbl>
          </a:graphicData>
        </a:graphic>
      </p:graphicFrame>
    </p:spTree>
    <p:extLst>
      <p:ext uri="{BB962C8B-B14F-4D97-AF65-F5344CB8AC3E}">
        <p14:creationId xmlns:p14="http://schemas.microsoft.com/office/powerpoint/2010/main" val="3996968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C8111-6D0D-1B5F-3B31-182CBACD1682}"/>
              </a:ext>
            </a:extLst>
          </p:cNvPr>
          <p:cNvSpPr>
            <a:spLocks noGrp="1"/>
          </p:cNvSpPr>
          <p:nvPr>
            <p:ph type="title"/>
          </p:nvPr>
        </p:nvSpPr>
        <p:spPr/>
        <p:txBody>
          <a:bodyPr/>
          <a:lstStyle/>
          <a:p>
            <a:pPr algn="ctr"/>
            <a:r>
              <a:rPr lang="en-US" dirty="0"/>
              <a:t>Data Cleaning</a:t>
            </a:r>
            <a:endParaRPr lang="en-IN" dirty="0"/>
          </a:p>
        </p:txBody>
      </p:sp>
      <p:sp>
        <p:nvSpPr>
          <p:cNvPr id="4" name="TextBox 3">
            <a:extLst>
              <a:ext uri="{FF2B5EF4-FFF2-40B4-BE49-F238E27FC236}">
                <a16:creationId xmlns:a16="http://schemas.microsoft.com/office/drawing/2014/main" id="{F0400C90-5E2F-E5F0-7C4D-5C8EBE7F6F66}"/>
              </a:ext>
            </a:extLst>
          </p:cNvPr>
          <p:cNvSpPr txBox="1"/>
          <p:nvPr/>
        </p:nvSpPr>
        <p:spPr>
          <a:xfrm>
            <a:off x="629920" y="2418080"/>
            <a:ext cx="5466080" cy="1477328"/>
          </a:xfrm>
          <a:prstGeom prst="rect">
            <a:avLst/>
          </a:prstGeom>
          <a:noFill/>
        </p:spPr>
        <p:txBody>
          <a:bodyPr wrap="square" rtlCol="0">
            <a:spAutoFit/>
          </a:bodyPr>
          <a:lstStyle/>
          <a:p>
            <a:r>
              <a:rPr lang="en-US" b="1" dirty="0"/>
              <a:t>Why did I clean the Data ?</a:t>
            </a:r>
          </a:p>
          <a:p>
            <a:r>
              <a:rPr lang="en-US" dirty="0"/>
              <a:t>I cleaned the data to ensure accurate analysis, improve dashboard performance, and create reliable visualizations in Power BI.</a:t>
            </a:r>
          </a:p>
          <a:p>
            <a:endParaRPr lang="en-IN" dirty="0"/>
          </a:p>
        </p:txBody>
      </p:sp>
      <p:sp>
        <p:nvSpPr>
          <p:cNvPr id="7" name="TextBox 6">
            <a:extLst>
              <a:ext uri="{FF2B5EF4-FFF2-40B4-BE49-F238E27FC236}">
                <a16:creationId xmlns:a16="http://schemas.microsoft.com/office/drawing/2014/main" id="{E068C7F8-5C4C-3546-2094-3CFC1EFCB0EF}"/>
              </a:ext>
            </a:extLst>
          </p:cNvPr>
          <p:cNvSpPr txBox="1"/>
          <p:nvPr/>
        </p:nvSpPr>
        <p:spPr>
          <a:xfrm>
            <a:off x="629920" y="3776097"/>
            <a:ext cx="6096000" cy="707886"/>
          </a:xfrm>
          <a:prstGeom prst="rect">
            <a:avLst/>
          </a:prstGeom>
          <a:noFill/>
        </p:spPr>
        <p:txBody>
          <a:bodyPr wrap="square">
            <a:spAutoFit/>
          </a:bodyPr>
          <a:lstStyle/>
          <a:p>
            <a:r>
              <a:rPr lang="en-US" sz="2000" b="1" dirty="0"/>
              <a:t>Data Cleaning</a:t>
            </a:r>
          </a:p>
          <a:p>
            <a:r>
              <a:rPr lang="en-US" sz="2000" dirty="0"/>
              <a:t>Performed using Power Query</a:t>
            </a:r>
          </a:p>
        </p:txBody>
      </p:sp>
      <p:sp>
        <p:nvSpPr>
          <p:cNvPr id="3" name="TextBox 2">
            <a:extLst>
              <a:ext uri="{FF2B5EF4-FFF2-40B4-BE49-F238E27FC236}">
                <a16:creationId xmlns:a16="http://schemas.microsoft.com/office/drawing/2014/main" id="{30196F4B-D8CB-3341-CD72-4F7BE49D323E}"/>
              </a:ext>
            </a:extLst>
          </p:cNvPr>
          <p:cNvSpPr txBox="1"/>
          <p:nvPr/>
        </p:nvSpPr>
        <p:spPr>
          <a:xfrm>
            <a:off x="6858000" y="2326640"/>
            <a:ext cx="3667760" cy="3046988"/>
          </a:xfrm>
          <a:prstGeom prst="rect">
            <a:avLst/>
          </a:prstGeom>
          <a:noFill/>
        </p:spPr>
        <p:txBody>
          <a:bodyPr wrap="square" rtlCol="0">
            <a:spAutoFit/>
          </a:bodyPr>
          <a:lstStyle/>
          <a:p>
            <a:r>
              <a:rPr lang="en-US" sz="2000" b="1" dirty="0"/>
              <a:t>Steps:</a:t>
            </a:r>
          </a:p>
          <a:p>
            <a:endParaRPr lang="en-US" sz="2400" b="1" dirty="0"/>
          </a:p>
          <a:p>
            <a:pPr marL="285750" indent="-285750">
              <a:buFont typeface="Wingdings" panose="05000000000000000000" pitchFamily="2" charset="2"/>
              <a:buChar char="q"/>
            </a:pPr>
            <a:r>
              <a:rPr lang="en-US" dirty="0"/>
              <a:t>Removed errors </a:t>
            </a:r>
          </a:p>
          <a:p>
            <a:endParaRPr lang="en-US" dirty="0"/>
          </a:p>
          <a:p>
            <a:pPr marL="285750" indent="-285750">
              <a:buFont typeface="Wingdings" panose="05000000000000000000" pitchFamily="2" charset="2"/>
              <a:buChar char="q"/>
            </a:pPr>
            <a:r>
              <a:rPr lang="en-US" dirty="0"/>
              <a:t>Checked missing values</a:t>
            </a:r>
          </a:p>
          <a:p>
            <a:r>
              <a:rPr lang="en-US" dirty="0"/>
              <a:t> </a:t>
            </a:r>
          </a:p>
          <a:p>
            <a:pPr marL="285750" indent="-285750">
              <a:buFont typeface="Wingdings" panose="05000000000000000000" pitchFamily="2" charset="2"/>
              <a:buChar char="q"/>
            </a:pPr>
            <a:r>
              <a:rPr lang="en-US" dirty="0"/>
              <a:t>Converted data types </a:t>
            </a:r>
          </a:p>
          <a:p>
            <a:endParaRPr lang="en-US" dirty="0"/>
          </a:p>
          <a:p>
            <a:pPr marL="285750" indent="-285750">
              <a:buFont typeface="Wingdings" panose="05000000000000000000" pitchFamily="2" charset="2"/>
              <a:buChar char="q"/>
            </a:pPr>
            <a:r>
              <a:rPr lang="en-US" dirty="0"/>
              <a:t> Renamed columns</a:t>
            </a:r>
          </a:p>
          <a:p>
            <a:endParaRPr lang="en-IN" dirty="0"/>
          </a:p>
        </p:txBody>
      </p:sp>
    </p:spTree>
    <p:extLst>
      <p:ext uri="{BB962C8B-B14F-4D97-AF65-F5344CB8AC3E}">
        <p14:creationId xmlns:p14="http://schemas.microsoft.com/office/powerpoint/2010/main" val="2707780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A7AB7E-4616-E65E-4B7B-6FA9B9941A2C}"/>
              </a:ext>
            </a:extLst>
          </p:cNvPr>
          <p:cNvSpPr/>
          <p:nvPr/>
        </p:nvSpPr>
        <p:spPr>
          <a:xfrm>
            <a:off x="2529840" y="254000"/>
            <a:ext cx="6055360" cy="772160"/>
          </a:xfrm>
          <a:prstGeom prst="rect">
            <a:avLst/>
          </a:prstGeom>
          <a:solidFill>
            <a:srgbClr val="723E92"/>
          </a:solidFill>
          <a:effectLst>
            <a:outerShdw blurRad="50800" dist="50800" dir="5400000" algn="ctr" rotWithShape="0">
              <a:srgbClr val="FFFF00"/>
            </a:outerShdw>
          </a:effectLst>
          <a:scene3d>
            <a:camera prst="orthographicFront"/>
            <a:lightRig rig="sunrise"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rPr>
              <a:t>KPI Analysis</a:t>
            </a:r>
            <a:endParaRPr lang="en-IN" sz="3200" dirty="0">
              <a:solidFill>
                <a:schemeClr val="bg1"/>
              </a:solidFill>
            </a:endParaRPr>
          </a:p>
        </p:txBody>
      </p:sp>
      <p:pic>
        <p:nvPicPr>
          <p:cNvPr id="6" name="Picture 5">
            <a:extLst>
              <a:ext uri="{FF2B5EF4-FFF2-40B4-BE49-F238E27FC236}">
                <a16:creationId xmlns:a16="http://schemas.microsoft.com/office/drawing/2014/main" id="{9BD8490C-FE8A-A3D7-0FDD-34C9213454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469" y="1263009"/>
            <a:ext cx="11265061" cy="1111262"/>
          </a:xfrm>
          <a:prstGeom prst="rect">
            <a:avLst/>
          </a:prstGeom>
        </p:spPr>
      </p:pic>
      <p:graphicFrame>
        <p:nvGraphicFramePr>
          <p:cNvPr id="7" name="Table 6">
            <a:extLst>
              <a:ext uri="{FF2B5EF4-FFF2-40B4-BE49-F238E27FC236}">
                <a16:creationId xmlns:a16="http://schemas.microsoft.com/office/drawing/2014/main" id="{6E4B2892-3C77-352A-888E-3E56824C56E3}"/>
              </a:ext>
            </a:extLst>
          </p:cNvPr>
          <p:cNvGraphicFramePr>
            <a:graphicFrameLocks noGrp="1"/>
          </p:cNvGraphicFramePr>
          <p:nvPr>
            <p:extLst>
              <p:ext uri="{D42A27DB-BD31-4B8C-83A1-F6EECF244321}">
                <p14:modId xmlns:p14="http://schemas.microsoft.com/office/powerpoint/2010/main" val="3859345495"/>
              </p:ext>
            </p:extLst>
          </p:nvPr>
        </p:nvGraphicFramePr>
        <p:xfrm>
          <a:off x="162560" y="2611120"/>
          <a:ext cx="11734800" cy="3992881"/>
        </p:xfrm>
        <a:graphic>
          <a:graphicData uri="http://schemas.openxmlformats.org/drawingml/2006/table">
            <a:tbl>
              <a:tblPr firstRow="1" bandRow="1">
                <a:effectLst>
                  <a:outerShdw blurRad="50800" dist="50800" dir="5400000" sx="200000" sy="200000" algn="ctr" rotWithShape="0">
                    <a:srgbClr val="FFFF00">
                      <a:alpha val="0"/>
                    </a:srgbClr>
                  </a:outerShdw>
                </a:effectLst>
                <a:tableStyleId>{638B1855-1B75-4FBE-930C-398BA8C253C6}</a:tableStyleId>
              </a:tblPr>
              <a:tblGrid>
                <a:gridCol w="5867400">
                  <a:extLst>
                    <a:ext uri="{9D8B030D-6E8A-4147-A177-3AD203B41FA5}">
                      <a16:colId xmlns:a16="http://schemas.microsoft.com/office/drawing/2014/main" val="1520898249"/>
                    </a:ext>
                  </a:extLst>
                </a:gridCol>
                <a:gridCol w="5867400">
                  <a:extLst>
                    <a:ext uri="{9D8B030D-6E8A-4147-A177-3AD203B41FA5}">
                      <a16:colId xmlns:a16="http://schemas.microsoft.com/office/drawing/2014/main" val="3322887562"/>
                    </a:ext>
                  </a:extLst>
                </a:gridCol>
              </a:tblGrid>
              <a:tr h="438581">
                <a:tc>
                  <a:txBody>
                    <a:bodyPr/>
                    <a:lstStyle/>
                    <a:p>
                      <a:pPr algn="ctr"/>
                      <a:r>
                        <a:rPr lang="en-US" dirty="0"/>
                        <a:t>KPI Card</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1284753465"/>
                  </a:ext>
                </a:extLst>
              </a:tr>
              <a:tr h="738307">
                <a:tc>
                  <a:txBody>
                    <a:bodyPr/>
                    <a:lstStyle/>
                    <a:p>
                      <a:pPr algn="ctr"/>
                      <a:r>
                        <a:rPr lang="en-IN" dirty="0"/>
                        <a:t>Total Loan Application: 38,576</a:t>
                      </a:r>
                    </a:p>
                  </a:txBody>
                  <a:tcPr/>
                </a:tc>
                <a:tc>
                  <a:txBody>
                    <a:bodyPr/>
                    <a:lstStyle/>
                    <a:p>
                      <a:pPr algn="ctr"/>
                      <a:r>
                        <a:rPr lang="en-US" sz="1400" dirty="0"/>
                        <a:t>Total number of loan applications received in the selected period. Measures demand and marketing effectiveness.</a:t>
                      </a:r>
                      <a:endParaRPr lang="en-IN" sz="1400" dirty="0"/>
                    </a:p>
                  </a:txBody>
                  <a:tcPr/>
                </a:tc>
                <a:extLst>
                  <a:ext uri="{0D108BD9-81ED-4DB2-BD59-A6C34878D82A}">
                    <a16:rowId xmlns:a16="http://schemas.microsoft.com/office/drawing/2014/main" val="532884473"/>
                  </a:ext>
                </a:extLst>
              </a:tr>
              <a:tr h="738307">
                <a:tc>
                  <a:txBody>
                    <a:bodyPr/>
                    <a:lstStyle/>
                    <a:p>
                      <a:pPr algn="ctr"/>
                      <a:r>
                        <a:rPr lang="en-IN" dirty="0"/>
                        <a:t>Total Funded Amount: 436M</a:t>
                      </a:r>
                    </a:p>
                  </a:txBody>
                  <a:tcPr/>
                </a:tc>
                <a:tc>
                  <a:txBody>
                    <a:bodyPr/>
                    <a:lstStyle/>
                    <a:p>
                      <a:pPr algn="ctr"/>
                      <a:r>
                        <a:rPr lang="en-US" sz="1400" dirty="0"/>
                        <a:t>The total principal amount disbursed to approved borrowers. Represents the bank's total loan exposure.</a:t>
                      </a:r>
                      <a:endParaRPr lang="en-IN" sz="1400" dirty="0"/>
                    </a:p>
                  </a:txBody>
                  <a:tcPr/>
                </a:tc>
                <a:extLst>
                  <a:ext uri="{0D108BD9-81ED-4DB2-BD59-A6C34878D82A}">
                    <a16:rowId xmlns:a16="http://schemas.microsoft.com/office/drawing/2014/main" val="2292213994"/>
                  </a:ext>
                </a:extLst>
              </a:tr>
              <a:tr h="738307">
                <a:tc>
                  <a:txBody>
                    <a:bodyPr/>
                    <a:lstStyle/>
                    <a:p>
                      <a:pPr algn="ctr"/>
                      <a:r>
                        <a:rPr lang="en-US" dirty="0"/>
                        <a:t>Sum of TOTAL_PAYMENT: 473M</a:t>
                      </a:r>
                      <a:endParaRPr lang="en-IN" dirty="0"/>
                    </a:p>
                  </a:txBody>
                  <a:tcPr/>
                </a:tc>
                <a:tc>
                  <a:txBody>
                    <a:bodyPr/>
                    <a:lstStyle/>
                    <a:p>
                      <a:pPr algn="ctr"/>
                      <a:r>
                        <a:rPr lang="en-US" sz="1400" dirty="0"/>
                        <a:t>The total amount collected from borrowers including principal + interest. Used to track portfolio recovery and revenue.</a:t>
                      </a:r>
                      <a:endParaRPr lang="en-IN" sz="1400" dirty="0"/>
                    </a:p>
                  </a:txBody>
                  <a:tcPr/>
                </a:tc>
                <a:extLst>
                  <a:ext uri="{0D108BD9-81ED-4DB2-BD59-A6C34878D82A}">
                    <a16:rowId xmlns:a16="http://schemas.microsoft.com/office/drawing/2014/main" val="1802737035"/>
                  </a:ext>
                </a:extLst>
              </a:tr>
              <a:tr h="601072">
                <a:tc>
                  <a:txBody>
                    <a:bodyPr/>
                    <a:lstStyle/>
                    <a:p>
                      <a:pPr algn="ctr"/>
                      <a:r>
                        <a:rPr lang="en-IN" dirty="0"/>
                        <a:t>Average Interest Rate: 12.05%</a:t>
                      </a:r>
                    </a:p>
                  </a:txBody>
                  <a:tcPr/>
                </a:tc>
                <a:tc>
                  <a:txBody>
                    <a:bodyPr/>
                    <a:lstStyle/>
                    <a:p>
                      <a:pPr algn="ctr"/>
                      <a:r>
                        <a:rPr lang="en-US" sz="1400" dirty="0"/>
                        <a:t>The average interest rate charged across all active loans. Key driver of profitability for the bank.</a:t>
                      </a:r>
                      <a:endParaRPr lang="en-IN" sz="1400" dirty="0"/>
                    </a:p>
                  </a:txBody>
                  <a:tcPr/>
                </a:tc>
                <a:extLst>
                  <a:ext uri="{0D108BD9-81ED-4DB2-BD59-A6C34878D82A}">
                    <a16:rowId xmlns:a16="http://schemas.microsoft.com/office/drawing/2014/main" val="3966409986"/>
                  </a:ext>
                </a:extLst>
              </a:tr>
              <a:tr h="738307">
                <a:tc>
                  <a:txBody>
                    <a:bodyPr/>
                    <a:lstStyle/>
                    <a:p>
                      <a:pPr algn="ctr"/>
                      <a:r>
                        <a:rPr lang="en-IN" dirty="0"/>
                        <a:t>Average DTI Ratio: 13.33%</a:t>
                      </a:r>
                    </a:p>
                  </a:txBody>
                  <a:tcPr/>
                </a:tc>
                <a:tc>
                  <a:txBody>
                    <a:bodyPr/>
                    <a:lstStyle/>
                    <a:p>
                      <a:pPr algn="ctr"/>
                      <a:r>
                        <a:rPr lang="en-US" sz="1400" dirty="0"/>
                        <a:t>Average Debt-to-Income ratio of borrowers. Lower DTI indicates lower borrower risk. Industry benchmark is &lt; 36%.</a:t>
                      </a:r>
                      <a:endParaRPr lang="en-IN" sz="1400" dirty="0"/>
                    </a:p>
                  </a:txBody>
                  <a:tcPr/>
                </a:tc>
                <a:extLst>
                  <a:ext uri="{0D108BD9-81ED-4DB2-BD59-A6C34878D82A}">
                    <a16:rowId xmlns:a16="http://schemas.microsoft.com/office/drawing/2014/main" val="790297330"/>
                  </a:ext>
                </a:extLst>
              </a:tr>
            </a:tbl>
          </a:graphicData>
        </a:graphic>
      </p:graphicFrame>
    </p:spTree>
    <p:extLst>
      <p:ext uri="{BB962C8B-B14F-4D97-AF65-F5344CB8AC3E}">
        <p14:creationId xmlns:p14="http://schemas.microsoft.com/office/powerpoint/2010/main" val="655143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A29AC0-F087-72E6-010C-B1FA78F7BDC4}"/>
              </a:ext>
            </a:extLst>
          </p:cNvPr>
          <p:cNvSpPr/>
          <p:nvPr/>
        </p:nvSpPr>
        <p:spPr>
          <a:xfrm>
            <a:off x="2529840" y="254000"/>
            <a:ext cx="6055360" cy="772160"/>
          </a:xfrm>
          <a:prstGeom prst="rect">
            <a:avLst/>
          </a:prstGeom>
          <a:solidFill>
            <a:srgbClr val="723E92"/>
          </a:solidFill>
          <a:effectLst>
            <a:outerShdw blurRad="50800" dist="50800" dir="5400000" algn="ctr" rotWithShape="0">
              <a:srgbClr val="FFFF00"/>
            </a:outerShdw>
          </a:effectLst>
          <a:scene3d>
            <a:camera prst="orthographicFront"/>
            <a:lightRig rig="sunrise"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rPr>
              <a:t>Chart Analysis</a:t>
            </a:r>
            <a:endParaRPr lang="en-IN" sz="3200" dirty="0">
              <a:solidFill>
                <a:schemeClr val="bg1"/>
              </a:solidFill>
            </a:endParaRPr>
          </a:p>
        </p:txBody>
      </p:sp>
      <p:pic>
        <p:nvPicPr>
          <p:cNvPr id="5" name="Picture 4">
            <a:extLst>
              <a:ext uri="{FF2B5EF4-FFF2-40B4-BE49-F238E27FC236}">
                <a16:creationId xmlns:a16="http://schemas.microsoft.com/office/drawing/2014/main" id="{D99EBC87-DE9F-B23E-A540-AA240818C9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692" y="1931514"/>
            <a:ext cx="3368724" cy="3152550"/>
          </a:xfrm>
          <a:prstGeom prst="rect">
            <a:avLst/>
          </a:prstGeom>
          <a:scene3d>
            <a:camera prst="orthographicFront"/>
            <a:lightRig rig="sunrise" dir="t"/>
          </a:scene3d>
        </p:spPr>
      </p:pic>
      <p:graphicFrame>
        <p:nvGraphicFramePr>
          <p:cNvPr id="10" name="Table 9">
            <a:extLst>
              <a:ext uri="{FF2B5EF4-FFF2-40B4-BE49-F238E27FC236}">
                <a16:creationId xmlns:a16="http://schemas.microsoft.com/office/drawing/2014/main" id="{942A812A-314A-5B0F-0138-597ECC1518FC}"/>
              </a:ext>
            </a:extLst>
          </p:cNvPr>
          <p:cNvGraphicFramePr>
            <a:graphicFrameLocks noGrp="1"/>
          </p:cNvGraphicFramePr>
          <p:nvPr>
            <p:extLst>
              <p:ext uri="{D42A27DB-BD31-4B8C-83A1-F6EECF244321}">
                <p14:modId xmlns:p14="http://schemas.microsoft.com/office/powerpoint/2010/main" val="1248067673"/>
              </p:ext>
            </p:extLst>
          </p:nvPr>
        </p:nvGraphicFramePr>
        <p:xfrm>
          <a:off x="5138928" y="1517904"/>
          <a:ext cx="6190488" cy="4343399"/>
        </p:xfrm>
        <a:graphic>
          <a:graphicData uri="http://schemas.openxmlformats.org/drawingml/2006/table">
            <a:tbl>
              <a:tblPr firstRow="1" bandRow="1">
                <a:tableStyleId>{638B1855-1B75-4FBE-930C-398BA8C253C6}</a:tableStyleId>
              </a:tblPr>
              <a:tblGrid>
                <a:gridCol w="3836371">
                  <a:extLst>
                    <a:ext uri="{9D8B030D-6E8A-4147-A177-3AD203B41FA5}">
                      <a16:colId xmlns:a16="http://schemas.microsoft.com/office/drawing/2014/main" val="363799934"/>
                    </a:ext>
                  </a:extLst>
                </a:gridCol>
                <a:gridCol w="2354117">
                  <a:extLst>
                    <a:ext uri="{9D8B030D-6E8A-4147-A177-3AD203B41FA5}">
                      <a16:colId xmlns:a16="http://schemas.microsoft.com/office/drawing/2014/main" val="514078569"/>
                    </a:ext>
                  </a:extLst>
                </a:gridCol>
              </a:tblGrid>
              <a:tr h="546440">
                <a:tc>
                  <a:txBody>
                    <a:bodyPr/>
                    <a:lstStyle/>
                    <a:p>
                      <a:pPr algn="ctr"/>
                      <a:r>
                        <a:rPr lang="en-IN" dirty="0"/>
                        <a:t>Metric</a:t>
                      </a:r>
                    </a:p>
                  </a:txBody>
                  <a:tcPr/>
                </a:tc>
                <a:tc>
                  <a:txBody>
                    <a:bodyPr/>
                    <a:lstStyle/>
                    <a:p>
                      <a:pPr algn="ctr"/>
                      <a:r>
                        <a:rPr lang="en-IN" dirty="0"/>
                        <a:t>Insight</a:t>
                      </a:r>
                    </a:p>
                  </a:txBody>
                  <a:tcPr/>
                </a:tc>
                <a:extLst>
                  <a:ext uri="{0D108BD9-81ED-4DB2-BD59-A6C34878D82A}">
                    <a16:rowId xmlns:a16="http://schemas.microsoft.com/office/drawing/2014/main" val="2659340079"/>
                  </a:ext>
                </a:extLst>
              </a:tr>
              <a:tr h="1104133">
                <a:tc>
                  <a:txBody>
                    <a:bodyPr/>
                    <a:lstStyle/>
                    <a:p>
                      <a:pPr algn="ctr"/>
                      <a:r>
                        <a:rPr lang="en-US" dirty="0"/>
                        <a:t>Approval Rate for Good Loans</a:t>
                      </a:r>
                      <a:endParaRPr lang="en-IN" dirty="0"/>
                    </a:p>
                  </a:txBody>
                  <a:tcPr/>
                </a:tc>
                <a:tc>
                  <a:txBody>
                    <a:bodyPr/>
                    <a:lstStyle/>
                    <a:p>
                      <a:pPr algn="ctr"/>
                      <a:r>
                        <a:rPr lang="en-IN" dirty="0"/>
                        <a:t>Only 86.67%</a:t>
                      </a:r>
                    </a:p>
                  </a:txBody>
                  <a:tcPr/>
                </a:tc>
                <a:extLst>
                  <a:ext uri="{0D108BD9-81ED-4DB2-BD59-A6C34878D82A}">
                    <a16:rowId xmlns:a16="http://schemas.microsoft.com/office/drawing/2014/main" val="1113433842"/>
                  </a:ext>
                </a:extLst>
              </a:tr>
              <a:tr h="776113">
                <a:tc>
                  <a:txBody>
                    <a:bodyPr/>
                    <a:lstStyle/>
                    <a:p>
                      <a:pPr algn="ctr"/>
                      <a:r>
                        <a:rPr lang="en-US" dirty="0"/>
                        <a:t>Rejection Rate for Bad Loans</a:t>
                      </a:r>
                      <a:endParaRPr lang="en-IN" dirty="0"/>
                    </a:p>
                  </a:txBody>
                  <a:tcPr/>
                </a:tc>
                <a:tc>
                  <a:txBody>
                    <a:bodyPr/>
                    <a:lstStyle/>
                    <a:p>
                      <a:pPr algn="ctr"/>
                      <a:r>
                        <a:rPr lang="en-IN" dirty="0"/>
                        <a:t>13.33%</a:t>
                      </a:r>
                    </a:p>
                  </a:txBody>
                  <a:tcPr/>
                </a:tc>
                <a:extLst>
                  <a:ext uri="{0D108BD9-81ED-4DB2-BD59-A6C34878D82A}">
                    <a16:rowId xmlns:a16="http://schemas.microsoft.com/office/drawing/2014/main" val="4103191923"/>
                  </a:ext>
                </a:extLst>
              </a:tr>
              <a:tr h="941965">
                <a:tc>
                  <a:txBody>
                    <a:bodyPr/>
                    <a:lstStyle/>
                    <a:p>
                      <a:pPr algn="ctr"/>
                      <a:r>
                        <a:rPr lang="en-IN" dirty="0"/>
                        <a:t>Leakage</a:t>
                      </a:r>
                    </a:p>
                  </a:txBody>
                  <a:tcPr/>
                </a:tc>
                <a:tc>
                  <a:txBody>
                    <a:bodyPr/>
                    <a:lstStyle/>
                    <a:p>
                      <a:pPr algn="ctr"/>
                      <a:r>
                        <a:rPr lang="en-US" dirty="0"/>
                        <a:t>13.33% bad loans got approved</a:t>
                      </a:r>
                      <a:endParaRPr lang="en-IN" dirty="0"/>
                    </a:p>
                  </a:txBody>
                  <a:tcPr/>
                </a:tc>
                <a:extLst>
                  <a:ext uri="{0D108BD9-81ED-4DB2-BD59-A6C34878D82A}">
                    <a16:rowId xmlns:a16="http://schemas.microsoft.com/office/drawing/2014/main" val="3155318240"/>
                  </a:ext>
                </a:extLst>
              </a:tr>
              <a:tr h="974748">
                <a:tc>
                  <a:txBody>
                    <a:bodyPr/>
                    <a:lstStyle/>
                    <a:p>
                      <a:pPr algn="ctr"/>
                      <a:r>
                        <a:rPr lang="en-IN" dirty="0"/>
                        <a:t>Missed Opportunity</a:t>
                      </a:r>
                    </a:p>
                  </a:txBody>
                  <a:tcPr/>
                </a:tc>
                <a:tc>
                  <a:txBody>
                    <a:bodyPr/>
                    <a:lstStyle/>
                    <a:p>
                      <a:pPr algn="ctr"/>
                      <a:r>
                        <a:rPr lang="en-IN" dirty="0"/>
                        <a:t>86.67% good loans rejected</a:t>
                      </a:r>
                    </a:p>
                  </a:txBody>
                  <a:tcPr/>
                </a:tc>
                <a:extLst>
                  <a:ext uri="{0D108BD9-81ED-4DB2-BD59-A6C34878D82A}">
                    <a16:rowId xmlns:a16="http://schemas.microsoft.com/office/drawing/2014/main" val="600709474"/>
                  </a:ext>
                </a:extLst>
              </a:tr>
            </a:tbl>
          </a:graphicData>
        </a:graphic>
      </p:graphicFrame>
    </p:spTree>
    <p:extLst>
      <p:ext uri="{BB962C8B-B14F-4D97-AF65-F5344CB8AC3E}">
        <p14:creationId xmlns:p14="http://schemas.microsoft.com/office/powerpoint/2010/main" val="3404377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1998DB-51BA-F1FA-33F9-E89E246E9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298" y="1709769"/>
            <a:ext cx="3504214" cy="3675616"/>
          </a:xfrm>
          <a:prstGeom prst="rect">
            <a:avLst/>
          </a:prstGeom>
          <a:scene3d>
            <a:camera prst="orthographicFront"/>
            <a:lightRig rig="sunrise" dir="t"/>
          </a:scene3d>
        </p:spPr>
      </p:pic>
      <p:sp>
        <p:nvSpPr>
          <p:cNvPr id="4" name="TextBox 3">
            <a:extLst>
              <a:ext uri="{FF2B5EF4-FFF2-40B4-BE49-F238E27FC236}">
                <a16:creationId xmlns:a16="http://schemas.microsoft.com/office/drawing/2014/main" id="{EE56C4B3-8089-C9D5-1667-40D2F59DF8A4}"/>
              </a:ext>
            </a:extLst>
          </p:cNvPr>
          <p:cNvSpPr txBox="1"/>
          <p:nvPr/>
        </p:nvSpPr>
        <p:spPr>
          <a:xfrm>
            <a:off x="4780790" y="1965642"/>
            <a:ext cx="6265162"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t>83.56% </a:t>
            </a:r>
            <a:r>
              <a:rPr lang="en-US" dirty="0"/>
              <a:t>Loans Fully Paid.</a:t>
            </a:r>
          </a:p>
          <a:p>
            <a:r>
              <a:rPr lang="en-US" dirty="0"/>
              <a:t>This means collection and recovery are working </a:t>
            </a:r>
            <a:r>
              <a:rPr lang="en-US" dirty="0" err="1"/>
              <a:t>well.Most</a:t>
            </a:r>
            <a:r>
              <a:rPr lang="en-US" dirty="0"/>
              <a:t> customers are paying EMIs on time and closing their loans. This is a big positive for the bank.</a:t>
            </a:r>
          </a:p>
          <a:p>
            <a:endParaRPr lang="en-US" dirty="0"/>
          </a:p>
          <a:p>
            <a:pPr marL="285750" indent="-285750">
              <a:buFont typeface="Arial" panose="020B0604020202020204" pitchFamily="34" charset="0"/>
              <a:buChar char="•"/>
            </a:pPr>
            <a:r>
              <a:rPr lang="en-US" b="1" dirty="0"/>
              <a:t>13.33% </a:t>
            </a:r>
            <a:r>
              <a:rPr lang="en-US" dirty="0"/>
              <a:t>Loans Charged Off = 1K </a:t>
            </a:r>
            <a:r>
              <a:rPr lang="en-US" dirty="0" err="1"/>
              <a:t>LoansThis</a:t>
            </a:r>
            <a:r>
              <a:rPr lang="en-US" dirty="0"/>
              <a:t> is the NPA Rate.</a:t>
            </a:r>
          </a:p>
          <a:p>
            <a:endParaRPr lang="en-US" dirty="0"/>
          </a:p>
          <a:p>
            <a:pPr marL="285750" indent="-285750">
              <a:buFont typeface="Arial" panose="020B0604020202020204" pitchFamily="34" charset="0"/>
              <a:buChar char="•"/>
            </a:pPr>
            <a:r>
              <a:rPr lang="en-US" dirty="0"/>
              <a:t>"Current" loans are only </a:t>
            </a:r>
            <a:r>
              <a:rPr lang="en-US" b="1" dirty="0"/>
              <a:t>3.11%.</a:t>
            </a:r>
          </a:p>
          <a:p>
            <a:r>
              <a:rPr lang="en-US" dirty="0"/>
              <a:t>This means there are very few loans with active EMIs running right now.</a:t>
            </a:r>
            <a:endParaRPr lang="en-IN" dirty="0"/>
          </a:p>
        </p:txBody>
      </p:sp>
    </p:spTree>
    <p:extLst>
      <p:ext uri="{BB962C8B-B14F-4D97-AF65-F5344CB8AC3E}">
        <p14:creationId xmlns:p14="http://schemas.microsoft.com/office/powerpoint/2010/main" val="1530903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EAA3A2-FE4C-545B-C96D-C3F707ADE9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7673" y="1251936"/>
            <a:ext cx="4785386" cy="4061743"/>
          </a:xfrm>
          <a:prstGeom prst="rect">
            <a:avLst/>
          </a:prstGeom>
          <a:scene3d>
            <a:camera prst="orthographicFront"/>
            <a:lightRig rig="sunrise" dir="t"/>
          </a:scene3d>
        </p:spPr>
      </p:pic>
      <p:graphicFrame>
        <p:nvGraphicFramePr>
          <p:cNvPr id="5" name="Table 4">
            <a:extLst>
              <a:ext uri="{FF2B5EF4-FFF2-40B4-BE49-F238E27FC236}">
                <a16:creationId xmlns:a16="http://schemas.microsoft.com/office/drawing/2014/main" id="{8F65D435-B6CF-8A5E-EE92-C49C4EB3A76B}"/>
              </a:ext>
            </a:extLst>
          </p:cNvPr>
          <p:cNvGraphicFramePr>
            <a:graphicFrameLocks noGrp="1"/>
          </p:cNvGraphicFramePr>
          <p:nvPr>
            <p:extLst>
              <p:ext uri="{D42A27DB-BD31-4B8C-83A1-F6EECF244321}">
                <p14:modId xmlns:p14="http://schemas.microsoft.com/office/powerpoint/2010/main" val="4268438011"/>
              </p:ext>
            </p:extLst>
          </p:nvPr>
        </p:nvGraphicFramePr>
        <p:xfrm>
          <a:off x="304800" y="1861561"/>
          <a:ext cx="6512560" cy="2570196"/>
        </p:xfrm>
        <a:graphic>
          <a:graphicData uri="http://schemas.openxmlformats.org/drawingml/2006/table">
            <a:tbl>
              <a:tblPr firstRow="1" bandRow="1">
                <a:effectLst>
                  <a:outerShdw blurRad="63500" dist="38100" dir="5400000" rotWithShape="0">
                    <a:srgbClr val="000000">
                      <a:alpha val="60000"/>
                    </a:srgbClr>
                  </a:outerShdw>
                  <a:reflection blurRad="6350" stA="50000" endA="295" endPos="92000" dist="101600" dir="5400000" sy="-100000" algn="bl" rotWithShape="0"/>
                </a:effectLst>
                <a:tableStyleId>{638B1855-1B75-4FBE-930C-398BA8C253C6}</a:tableStyleId>
              </a:tblPr>
              <a:tblGrid>
                <a:gridCol w="1940560">
                  <a:extLst>
                    <a:ext uri="{9D8B030D-6E8A-4147-A177-3AD203B41FA5}">
                      <a16:colId xmlns:a16="http://schemas.microsoft.com/office/drawing/2014/main" val="2118062656"/>
                    </a:ext>
                  </a:extLst>
                </a:gridCol>
                <a:gridCol w="2245360">
                  <a:extLst>
                    <a:ext uri="{9D8B030D-6E8A-4147-A177-3AD203B41FA5}">
                      <a16:colId xmlns:a16="http://schemas.microsoft.com/office/drawing/2014/main" val="61497666"/>
                    </a:ext>
                  </a:extLst>
                </a:gridCol>
                <a:gridCol w="2326640">
                  <a:extLst>
                    <a:ext uri="{9D8B030D-6E8A-4147-A177-3AD203B41FA5}">
                      <a16:colId xmlns:a16="http://schemas.microsoft.com/office/drawing/2014/main" val="3261043101"/>
                    </a:ext>
                  </a:extLst>
                </a:gridCol>
              </a:tblGrid>
              <a:tr h="164699">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dirty="0"/>
                        <a:t>LOAN_STATUS</a:t>
                      </a:r>
                    </a:p>
                    <a:p>
                      <a:pPr algn="ctr"/>
                      <a:endParaRPr lang="en-IN"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dirty="0"/>
                        <a:t>Funded Amount</a:t>
                      </a:r>
                    </a:p>
                    <a:p>
                      <a:pPr algn="ctr"/>
                      <a:endParaRPr lang="en-IN" dirty="0"/>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IN" dirty="0"/>
                        <a:t>Amount Received</a:t>
                      </a:r>
                    </a:p>
                    <a:p>
                      <a:pPr algn="ctr"/>
                      <a:endParaRPr lang="en-IN" dirty="0"/>
                    </a:p>
                  </a:txBody>
                  <a:tcPr/>
                </a:tc>
                <a:extLst>
                  <a:ext uri="{0D108BD9-81ED-4DB2-BD59-A6C34878D82A}">
                    <a16:rowId xmlns:a16="http://schemas.microsoft.com/office/drawing/2014/main" val="1611312164"/>
                  </a:ext>
                </a:extLst>
              </a:tr>
              <a:tr h="643372">
                <a:tc>
                  <a:txBody>
                    <a:bodyPr/>
                    <a:lstStyle/>
                    <a:p>
                      <a:pPr algn="ctr"/>
                      <a:r>
                        <a:rPr lang="en-IN" dirty="0"/>
                        <a:t>Fully Paid</a:t>
                      </a:r>
                    </a:p>
                  </a:txBody>
                  <a:tcPr/>
                </a:tc>
                <a:tc>
                  <a:txBody>
                    <a:bodyPr/>
                    <a:lstStyle/>
                    <a:p>
                      <a:pPr algn="ctr"/>
                      <a:r>
                        <a:rPr lang="en-IN" dirty="0"/>
                        <a:t>∼70M</a:t>
                      </a:r>
                    </a:p>
                  </a:txBody>
                  <a:tcPr/>
                </a:tc>
                <a:tc>
                  <a:txBody>
                    <a:bodyPr/>
                    <a:lstStyle/>
                    <a:p>
                      <a:pPr algn="ctr"/>
                      <a:r>
                        <a:rPr lang="en-IN" dirty="0"/>
                        <a:t>∼80M</a:t>
                      </a:r>
                    </a:p>
                  </a:txBody>
                  <a:tcPr/>
                </a:tc>
                <a:extLst>
                  <a:ext uri="{0D108BD9-81ED-4DB2-BD59-A6C34878D82A}">
                    <a16:rowId xmlns:a16="http://schemas.microsoft.com/office/drawing/2014/main" val="3895227530"/>
                  </a:ext>
                </a:extLst>
              </a:tr>
              <a:tr h="643372">
                <a:tc>
                  <a:txBody>
                    <a:bodyPr/>
                    <a:lstStyle/>
                    <a:p>
                      <a:pPr algn="ctr"/>
                      <a:r>
                        <a:rPr lang="en-US" dirty="0"/>
                        <a:t>Charged Off</a:t>
                      </a:r>
                      <a:endParaRPr lang="en-IN" dirty="0"/>
                    </a:p>
                  </a:txBody>
                  <a:tcPr/>
                </a:tc>
                <a:tc>
                  <a:txBody>
                    <a:bodyPr/>
                    <a:lstStyle/>
                    <a:p>
                      <a:pPr algn="ctr"/>
                      <a:r>
                        <a:rPr lang="en-IN" dirty="0"/>
                        <a:t>∼12M</a:t>
                      </a:r>
                    </a:p>
                  </a:txBody>
                  <a:tcPr/>
                </a:tc>
                <a:tc>
                  <a:txBody>
                    <a:bodyPr/>
                    <a:lstStyle/>
                    <a:p>
                      <a:pPr algn="ctr"/>
                      <a:r>
                        <a:rPr lang="en-IN" dirty="0"/>
                        <a:t>∼5M</a:t>
                      </a:r>
                    </a:p>
                  </a:txBody>
                  <a:tcPr/>
                </a:tc>
                <a:extLst>
                  <a:ext uri="{0D108BD9-81ED-4DB2-BD59-A6C34878D82A}">
                    <a16:rowId xmlns:a16="http://schemas.microsoft.com/office/drawing/2014/main" val="3747021527"/>
                  </a:ext>
                </a:extLst>
              </a:tr>
              <a:tr h="643372">
                <a:tc>
                  <a:txBody>
                    <a:bodyPr/>
                    <a:lstStyle/>
                    <a:p>
                      <a:pPr algn="ctr"/>
                      <a:r>
                        <a:rPr lang="en-US" dirty="0"/>
                        <a:t>Current</a:t>
                      </a:r>
                      <a:endParaRPr lang="en-IN" dirty="0"/>
                    </a:p>
                  </a:txBody>
                  <a:tcPr/>
                </a:tc>
                <a:tc>
                  <a:txBody>
                    <a:bodyPr/>
                    <a:lstStyle/>
                    <a:p>
                      <a:pPr algn="ctr"/>
                      <a:r>
                        <a:rPr lang="en-IN" dirty="0"/>
                        <a:t>∼6M</a:t>
                      </a:r>
                    </a:p>
                  </a:txBody>
                  <a:tcPr/>
                </a:tc>
                <a:tc>
                  <a:txBody>
                    <a:bodyPr/>
                    <a:lstStyle/>
                    <a:p>
                      <a:pPr algn="ctr"/>
                      <a:r>
                        <a:rPr lang="en-IN" dirty="0"/>
                        <a:t>∼4M</a:t>
                      </a:r>
                    </a:p>
                  </a:txBody>
                  <a:tcPr/>
                </a:tc>
                <a:extLst>
                  <a:ext uri="{0D108BD9-81ED-4DB2-BD59-A6C34878D82A}">
                    <a16:rowId xmlns:a16="http://schemas.microsoft.com/office/drawing/2014/main" val="3989541899"/>
                  </a:ext>
                </a:extLst>
              </a:tr>
            </a:tbl>
          </a:graphicData>
        </a:graphic>
      </p:graphicFrame>
    </p:spTree>
    <p:extLst>
      <p:ext uri="{BB962C8B-B14F-4D97-AF65-F5344CB8AC3E}">
        <p14:creationId xmlns:p14="http://schemas.microsoft.com/office/powerpoint/2010/main" val="1089210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E52077-52C9-E3AC-26DE-7760238353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47" y="1021699"/>
            <a:ext cx="4966641" cy="4814601"/>
          </a:xfrm>
          <a:prstGeom prst="rect">
            <a:avLst/>
          </a:prstGeom>
        </p:spPr>
      </p:pic>
      <p:sp>
        <p:nvSpPr>
          <p:cNvPr id="4" name="TextBox 3">
            <a:extLst>
              <a:ext uri="{FF2B5EF4-FFF2-40B4-BE49-F238E27FC236}">
                <a16:creationId xmlns:a16="http://schemas.microsoft.com/office/drawing/2014/main" id="{01970334-9684-219E-6DAF-F516CA8D546E}"/>
              </a:ext>
            </a:extLst>
          </p:cNvPr>
          <p:cNvSpPr txBox="1"/>
          <p:nvPr/>
        </p:nvSpPr>
        <p:spPr>
          <a:xfrm>
            <a:off x="5720080" y="1158096"/>
            <a:ext cx="5486400" cy="4678204"/>
          </a:xfrm>
          <a:prstGeom prst="rect">
            <a:avLst/>
          </a:prstGeom>
          <a:noFill/>
        </p:spPr>
        <p:txBody>
          <a:bodyPr wrap="square" rtlCol="0">
            <a:spAutoFit/>
          </a:bodyPr>
          <a:lstStyle/>
          <a:p>
            <a:pPr algn="ctr"/>
            <a:r>
              <a:rPr lang="en-US" sz="3200" dirty="0"/>
              <a:t>Business Takeaways</a:t>
            </a:r>
          </a:p>
          <a:p>
            <a:pPr algn="ctr"/>
            <a:endParaRPr lang="en-US" sz="3200" dirty="0"/>
          </a:p>
          <a:p>
            <a:pPr marL="285750" indent="-285750">
              <a:buFont typeface="Arial" panose="020B0604020202020204" pitchFamily="34" charset="0"/>
              <a:buChar char="•"/>
            </a:pPr>
            <a:r>
              <a:rPr lang="en-US" b="1" dirty="0"/>
              <a:t>Categorization Issue</a:t>
            </a:r>
            <a:r>
              <a:rPr lang="en-US" dirty="0"/>
              <a:t>: "Other" being the biggest is a red flag. You're missing insights because ∼30-40% of loans aren't classified properly. Recommend cleaning purpose categories.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Top Demand Drivers</a:t>
            </a:r>
            <a:r>
              <a:rPr lang="en-US" dirty="0"/>
              <a:t>: Home Improvement + Car together are the 2nd and 3rd biggest. Marketing campaigns can target these 2.</a:t>
            </a:r>
          </a:p>
          <a:p>
            <a:endParaRPr lang="en-US" dirty="0"/>
          </a:p>
          <a:p>
            <a:pPr marL="285750" indent="-285750">
              <a:buFont typeface="Arial" panose="020B0604020202020204" pitchFamily="34" charset="0"/>
              <a:buChar char="•"/>
            </a:pPr>
            <a:r>
              <a:rPr lang="en-US" b="1" dirty="0"/>
              <a:t>Risk Check:</a:t>
            </a:r>
            <a:r>
              <a:rPr lang="en-US" dirty="0"/>
              <a:t> Medical and "Other" loans often have higher default risk. Cross-check with your Charged Off data from the first chart.</a:t>
            </a:r>
            <a:endParaRPr lang="en-IN" dirty="0"/>
          </a:p>
        </p:txBody>
      </p:sp>
    </p:spTree>
    <p:extLst>
      <p:ext uri="{BB962C8B-B14F-4D97-AF65-F5344CB8AC3E}">
        <p14:creationId xmlns:p14="http://schemas.microsoft.com/office/powerpoint/2010/main" val="1092397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1D93E1-6983-28F7-A545-49FEB0A5FB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80854" y="1867051"/>
            <a:ext cx="5084426" cy="3123897"/>
          </a:xfrm>
          <a:prstGeom prst="rect">
            <a:avLst/>
          </a:prstGeom>
          <a:scene3d>
            <a:camera prst="orthographicFront"/>
            <a:lightRig rig="sunrise" dir="t"/>
          </a:scene3d>
        </p:spPr>
      </p:pic>
      <p:sp>
        <p:nvSpPr>
          <p:cNvPr id="8" name="Text Placeholder 7">
            <a:extLst>
              <a:ext uri="{FF2B5EF4-FFF2-40B4-BE49-F238E27FC236}">
                <a16:creationId xmlns:a16="http://schemas.microsoft.com/office/drawing/2014/main" id="{81F7B112-A9AB-11CF-962F-116706B36E52}"/>
              </a:ext>
            </a:extLst>
          </p:cNvPr>
          <p:cNvSpPr>
            <a:spLocks noGrp="1"/>
          </p:cNvSpPr>
          <p:nvPr>
            <p:ph type="body" idx="1"/>
          </p:nvPr>
        </p:nvSpPr>
        <p:spPr>
          <a:xfrm>
            <a:off x="640081" y="863600"/>
            <a:ext cx="5374639" cy="5130800"/>
          </a:xfrm>
        </p:spPr>
        <p:txBody>
          <a:bodyPr>
            <a:normAutofit lnSpcReduction="10000"/>
          </a:bodyPr>
          <a:lstStyle/>
          <a:p>
            <a:pPr algn="ctr"/>
            <a:r>
              <a:rPr lang="en-US" dirty="0"/>
              <a:t> </a:t>
            </a:r>
            <a:r>
              <a:rPr lang="en-US" sz="2400" b="1" dirty="0">
                <a:solidFill>
                  <a:schemeClr val="bg1"/>
                </a:solidFill>
              </a:rPr>
              <a:t>Business Takeaways</a:t>
            </a:r>
          </a:p>
          <a:p>
            <a:pPr marL="342900" indent="-342900">
              <a:buFont typeface="Arial" panose="020B0604020202020204" pitchFamily="34" charset="0"/>
              <a:buChar char="•"/>
            </a:pPr>
            <a:r>
              <a:rPr lang="en-US" b="1" cap="none" dirty="0">
                <a:solidFill>
                  <a:schemeClr val="bg1"/>
                </a:solidFill>
              </a:rPr>
              <a:t>Seasonality</a:t>
            </a:r>
            <a:r>
              <a:rPr lang="en-US" cap="none" dirty="0">
                <a:solidFill>
                  <a:schemeClr val="bg1"/>
                </a:solidFill>
              </a:rPr>
              <a:t>: 2 peaks → </a:t>
            </a:r>
            <a:r>
              <a:rPr lang="en-US" cap="none" dirty="0" err="1">
                <a:solidFill>
                  <a:schemeClr val="bg1"/>
                </a:solidFill>
              </a:rPr>
              <a:t>june</a:t>
            </a:r>
            <a:r>
              <a:rPr lang="en-US" cap="none" dirty="0">
                <a:solidFill>
                  <a:schemeClr val="bg1"/>
                </a:solidFill>
              </a:rPr>
              <a:t> and </a:t>
            </a:r>
            <a:r>
              <a:rPr lang="en-US" cap="none" dirty="0" err="1">
                <a:solidFill>
                  <a:schemeClr val="bg1"/>
                </a:solidFill>
              </a:rPr>
              <a:t>october</a:t>
            </a:r>
            <a:r>
              <a:rPr lang="en-US" cap="none" dirty="0">
                <a:solidFill>
                  <a:schemeClr val="bg1"/>
                </a:solidFill>
              </a:rPr>
              <a:t>. These are your high-demand months. Plan marketing budget + staff capacity here.</a:t>
            </a:r>
          </a:p>
          <a:p>
            <a:pPr marL="342900" indent="-342900">
              <a:buFont typeface="Arial" panose="020B0604020202020204" pitchFamily="34" charset="0"/>
              <a:buChar char="•"/>
            </a:pPr>
            <a:r>
              <a:rPr lang="en-US" b="1" cap="none" dirty="0">
                <a:solidFill>
                  <a:schemeClr val="bg1"/>
                </a:solidFill>
              </a:rPr>
              <a:t>Slow months</a:t>
            </a:r>
            <a:r>
              <a:rPr lang="en-US" cap="none" dirty="0">
                <a:solidFill>
                  <a:schemeClr val="bg1"/>
                </a:solidFill>
              </a:rPr>
              <a:t>: </a:t>
            </a:r>
            <a:r>
              <a:rPr lang="en-US" cap="none" dirty="0" err="1">
                <a:solidFill>
                  <a:schemeClr val="bg1"/>
                </a:solidFill>
              </a:rPr>
              <a:t>jan-feb</a:t>
            </a:r>
            <a:r>
              <a:rPr lang="en-US" cap="none" dirty="0">
                <a:solidFill>
                  <a:schemeClr val="bg1"/>
                </a:solidFill>
              </a:rPr>
              <a:t> are 45% lower than oct. Use these months for processing backlogs or targeted campaigns.</a:t>
            </a:r>
          </a:p>
          <a:p>
            <a:pPr marL="342900" indent="-342900">
              <a:buFont typeface="Arial" panose="020B0604020202020204" pitchFamily="34" charset="0"/>
              <a:buChar char="•"/>
            </a:pPr>
            <a:r>
              <a:rPr lang="en-US" b="1" cap="none" dirty="0">
                <a:solidFill>
                  <a:schemeClr val="bg1"/>
                </a:solidFill>
              </a:rPr>
              <a:t>Growth story</a:t>
            </a:r>
            <a:r>
              <a:rPr lang="en-US" cap="none" dirty="0">
                <a:solidFill>
                  <a:schemeClr val="bg1"/>
                </a:solidFill>
              </a:rPr>
              <a:t>: from </a:t>
            </a:r>
            <a:r>
              <a:rPr lang="en-US" cap="none" dirty="0" err="1">
                <a:solidFill>
                  <a:schemeClr val="bg1"/>
                </a:solidFill>
              </a:rPr>
              <a:t>jan</a:t>
            </a:r>
            <a:r>
              <a:rPr lang="en-US" cap="none" dirty="0">
                <a:solidFill>
                  <a:schemeClr val="bg1"/>
                </a:solidFill>
              </a:rPr>
              <a:t> 496 to oct 905 = +82% growth in 10 months. Strong upward trend overall.</a:t>
            </a:r>
          </a:p>
          <a:p>
            <a:pPr marL="342900" indent="-342900">
              <a:buFont typeface="Arial" panose="020B0604020202020204" pitchFamily="34" charset="0"/>
              <a:buChar char="•"/>
            </a:pPr>
            <a:r>
              <a:rPr lang="en-US" b="1" cap="none" dirty="0">
                <a:solidFill>
                  <a:schemeClr val="bg1"/>
                </a:solidFill>
              </a:rPr>
              <a:t>No big drop-off</a:t>
            </a:r>
            <a:r>
              <a:rPr lang="en-US" cap="none" dirty="0">
                <a:solidFill>
                  <a:schemeClr val="bg1"/>
                </a:solidFill>
              </a:rPr>
              <a:t>: after </a:t>
            </a:r>
            <a:r>
              <a:rPr lang="en-US" cap="none" dirty="0" err="1">
                <a:solidFill>
                  <a:schemeClr val="bg1"/>
                </a:solidFill>
              </a:rPr>
              <a:t>june</a:t>
            </a:r>
            <a:r>
              <a:rPr lang="en-US" cap="none" dirty="0">
                <a:solidFill>
                  <a:schemeClr val="bg1"/>
                </a:solidFill>
              </a:rPr>
              <a:t> peak, it stabilizes around 840-870. Demand is consistent in H2.</a:t>
            </a:r>
            <a:endParaRPr lang="en-IN" cap="none" dirty="0">
              <a:solidFill>
                <a:schemeClr val="bg1"/>
              </a:solidFill>
            </a:endParaRPr>
          </a:p>
        </p:txBody>
      </p:sp>
    </p:spTree>
    <p:extLst>
      <p:ext uri="{BB962C8B-B14F-4D97-AF65-F5344CB8AC3E}">
        <p14:creationId xmlns:p14="http://schemas.microsoft.com/office/powerpoint/2010/main" val="1720232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CE45C3-C771-F635-D7E0-0E26E10CE0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2024" y="1570354"/>
            <a:ext cx="4793974" cy="3783966"/>
          </a:xfrm>
          <a:prstGeom prst="rect">
            <a:avLst/>
          </a:prstGeom>
          <a:scene3d>
            <a:camera prst="orthographicFront"/>
            <a:lightRig rig="sunrise" dir="t"/>
          </a:scene3d>
        </p:spPr>
      </p:pic>
      <p:sp>
        <p:nvSpPr>
          <p:cNvPr id="8" name="Text Placeholder 7">
            <a:extLst>
              <a:ext uri="{FF2B5EF4-FFF2-40B4-BE49-F238E27FC236}">
                <a16:creationId xmlns:a16="http://schemas.microsoft.com/office/drawing/2014/main" id="{609D9FA3-BECF-94AE-6FE1-53FAF3152B34}"/>
              </a:ext>
            </a:extLst>
          </p:cNvPr>
          <p:cNvSpPr>
            <a:spLocks noGrp="1"/>
          </p:cNvSpPr>
          <p:nvPr>
            <p:ph type="body" idx="1"/>
          </p:nvPr>
        </p:nvSpPr>
        <p:spPr>
          <a:xfrm>
            <a:off x="914399" y="1178560"/>
            <a:ext cx="4897121" cy="4257040"/>
          </a:xfrm>
        </p:spPr>
        <p:txBody>
          <a:bodyPr>
            <a:normAutofit fontScale="92500" lnSpcReduction="10000"/>
          </a:bodyPr>
          <a:lstStyle/>
          <a:p>
            <a:pPr algn="ctr"/>
            <a:r>
              <a:rPr lang="en-US" dirty="0">
                <a:solidFill>
                  <a:schemeClr val="bg1"/>
                </a:solidFill>
              </a:rPr>
              <a:t>Business Takeaways</a:t>
            </a:r>
          </a:p>
          <a:p>
            <a:pPr marL="342900" indent="-342900">
              <a:buFont typeface="Arial" panose="020B0604020202020204" pitchFamily="34" charset="0"/>
              <a:buChar char="•"/>
            </a:pPr>
            <a:r>
              <a:rPr lang="en-US" dirty="0">
                <a:solidFill>
                  <a:schemeClr val="bg1"/>
                </a:solidFill>
              </a:rPr>
              <a:t>Target Segment: 89.8% of applications come from MORTGAGE + RENT. Marketing can focus here.</a:t>
            </a:r>
          </a:p>
          <a:p>
            <a:pPr marL="342900" indent="-342900">
              <a:buFont typeface="Arial" panose="020B0604020202020204" pitchFamily="34" charset="0"/>
              <a:buChar char="•"/>
            </a:pPr>
            <a:r>
              <a:rPr lang="en-US" dirty="0">
                <a:solidFill>
                  <a:schemeClr val="bg1"/>
                </a:solidFill>
              </a:rPr>
              <a:t>Risk View: Renters = 37%. Banks usually see them as higher risk vs OWN/MORTGAGE. You might want to check default rates for RENT vs MORTGAGE.</a:t>
            </a:r>
          </a:p>
          <a:p>
            <a:pPr marL="342900" indent="-342900">
              <a:buFont typeface="Arial" panose="020B0604020202020204" pitchFamily="34" charset="0"/>
              <a:buChar char="•"/>
            </a:pPr>
            <a:r>
              <a:rPr lang="en-US" dirty="0">
                <a:solidFill>
                  <a:schemeClr val="bg1"/>
                </a:solidFill>
              </a:rPr>
              <a:t>Low Volume: OWN and NONE are very low. Opportunity to run campaigns for homeowners without loan.</a:t>
            </a:r>
            <a:endParaRPr lang="en-IN" dirty="0">
              <a:solidFill>
                <a:schemeClr val="bg1"/>
              </a:solidFill>
            </a:endParaRPr>
          </a:p>
        </p:txBody>
      </p:sp>
    </p:spTree>
    <p:extLst>
      <p:ext uri="{BB962C8B-B14F-4D97-AF65-F5344CB8AC3E}">
        <p14:creationId xmlns:p14="http://schemas.microsoft.com/office/powerpoint/2010/main" val="3141905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5BE39E-3215-4AE7-5A8B-2776603C4A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908" y="182880"/>
            <a:ext cx="2486051" cy="6512559"/>
          </a:xfrm>
          <a:prstGeom prst="rect">
            <a:avLst/>
          </a:prstGeom>
        </p:spPr>
      </p:pic>
      <p:sp>
        <p:nvSpPr>
          <p:cNvPr id="7" name="Rectangle 6">
            <a:extLst>
              <a:ext uri="{FF2B5EF4-FFF2-40B4-BE49-F238E27FC236}">
                <a16:creationId xmlns:a16="http://schemas.microsoft.com/office/drawing/2014/main" id="{C6D97F42-7F3E-D168-6E3A-3B41A1651E43}"/>
              </a:ext>
            </a:extLst>
          </p:cNvPr>
          <p:cNvSpPr/>
          <p:nvPr/>
        </p:nvSpPr>
        <p:spPr>
          <a:xfrm>
            <a:off x="7650480" y="2413337"/>
            <a:ext cx="4307840" cy="4282101"/>
          </a:xfrm>
          <a:prstGeom prst="rect">
            <a:avLst/>
          </a:prstGeom>
          <a:solidFill>
            <a:srgbClr val="723E92"/>
          </a:solidFill>
          <a:effectLst>
            <a:glow rad="25400">
              <a:schemeClr val="accent4">
                <a:satMod val="175000"/>
                <a:alpha val="41000"/>
              </a:schemeClr>
            </a:glow>
            <a:outerShdw blurRad="50800" dist="50800" dir="5400000" algn="ctr" rotWithShape="0">
              <a:srgbClr val="FFFF00"/>
            </a:outerShdw>
            <a:softEdge rad="31750"/>
          </a:effectLst>
          <a:scene3d>
            <a:camera prst="orthographicFront"/>
            <a:lightRig rig="sunrise"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"Loan Purpose Slicer“</a:t>
            </a:r>
          </a:p>
          <a:p>
            <a:pPr algn="ctr"/>
            <a:r>
              <a:rPr lang="en-US" dirty="0">
                <a:solidFill>
                  <a:schemeClr val="bg1"/>
                </a:solidFill>
              </a:rPr>
              <a:t>This slicer allows users to segment the entire dashboard by the borrower’s stated reason for taking the loan. It covers 14 categories such as Debt Consolidation, Home Improvement, Major Purchase, Renewable Energy, and Vacation. This helps stakeholders identify which loan purposes drive the highest volume, default rate, and revenue.</a:t>
            </a:r>
            <a:endParaRPr lang="en-IN" dirty="0">
              <a:solidFill>
                <a:schemeClr val="bg1"/>
              </a:solidFill>
            </a:endParaRPr>
          </a:p>
        </p:txBody>
      </p:sp>
      <p:sp>
        <p:nvSpPr>
          <p:cNvPr id="8" name="Oval 7">
            <a:extLst>
              <a:ext uri="{FF2B5EF4-FFF2-40B4-BE49-F238E27FC236}">
                <a16:creationId xmlns:a16="http://schemas.microsoft.com/office/drawing/2014/main" id="{0B5BF133-FBE2-79E4-6D5E-1247FC1CE178}"/>
              </a:ext>
            </a:extLst>
          </p:cNvPr>
          <p:cNvSpPr/>
          <p:nvPr/>
        </p:nvSpPr>
        <p:spPr>
          <a:xfrm>
            <a:off x="3098800" y="2570479"/>
            <a:ext cx="4307840" cy="4124959"/>
          </a:xfrm>
          <a:prstGeom prst="ellipse">
            <a:avLst/>
          </a:prstGeom>
          <a:solidFill>
            <a:srgbClr val="723E92"/>
          </a:solidFill>
          <a:ln>
            <a:solidFill>
              <a:schemeClr val="accent1">
                <a:shade val="15000"/>
              </a:schemeClr>
            </a:solidFill>
          </a:ln>
          <a:effectLst>
            <a:glow rad="101600">
              <a:schemeClr val="accent4">
                <a:satMod val="175000"/>
                <a:alpha val="40000"/>
              </a:schemeClr>
            </a:glow>
            <a:outerShdw blurRad="50800" dist="50800" dir="5400000" sx="103000" sy="103000" algn="ctr" rotWithShape="0">
              <a:srgbClr val="FFFF00"/>
            </a:outerShdw>
            <a:softEdge rad="31750"/>
          </a:effectLst>
          <a:scene3d>
            <a:camera prst="orthographicFront"/>
            <a:lightRig rig="sunrise" dir="t"/>
          </a:scene3d>
          <a:sp3d>
            <a:bevelT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Use this slicer to filter the dashboard by the purpose of the loan. Categories include Car, House, Credit Card, Small Business, Wedding, Education, Medical, and more. Select one or multiple purposes to analyze trends for specific loan types.</a:t>
            </a:r>
            <a:endParaRPr lang="en-IN" dirty="0">
              <a:solidFill>
                <a:schemeClr val="bg1"/>
              </a:solidFill>
            </a:endParaRPr>
          </a:p>
          <a:p>
            <a:pPr algn="ctr"/>
            <a:endParaRPr lang="en-IN" dirty="0">
              <a:solidFill>
                <a:schemeClr val="bg1"/>
              </a:solidFill>
            </a:endParaRPr>
          </a:p>
        </p:txBody>
      </p:sp>
      <p:sp>
        <p:nvSpPr>
          <p:cNvPr id="9" name="Rectangle 8">
            <a:extLst>
              <a:ext uri="{FF2B5EF4-FFF2-40B4-BE49-F238E27FC236}">
                <a16:creationId xmlns:a16="http://schemas.microsoft.com/office/drawing/2014/main" id="{DE5CACAC-9D3F-4513-461A-3ED65534821F}"/>
              </a:ext>
            </a:extLst>
          </p:cNvPr>
          <p:cNvSpPr/>
          <p:nvPr/>
        </p:nvSpPr>
        <p:spPr>
          <a:xfrm>
            <a:off x="4084320" y="254000"/>
            <a:ext cx="4897120" cy="833120"/>
          </a:xfrm>
          <a:prstGeom prst="rect">
            <a:avLst/>
          </a:prstGeom>
          <a:solidFill>
            <a:srgbClr val="723E92"/>
          </a:solidFill>
          <a:effectLst>
            <a:outerShdw blurRad="50800" dist="50800" dir="5400000" algn="ctr" rotWithShape="0">
              <a:srgbClr val="FFFF00">
                <a:alpha val="98000"/>
              </a:srgbClr>
            </a:outerShdw>
          </a:effectLst>
          <a:scene3d>
            <a:camera prst="orthographicFront"/>
            <a:lightRig rig="sunrise"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bg1"/>
                </a:solidFill>
              </a:rPr>
              <a:t>Slicers</a:t>
            </a:r>
            <a:endParaRPr lang="en-IN" sz="4000" dirty="0">
              <a:solidFill>
                <a:schemeClr val="bg1"/>
              </a:solidFill>
            </a:endParaRPr>
          </a:p>
        </p:txBody>
      </p:sp>
    </p:spTree>
    <p:extLst>
      <p:ext uri="{BB962C8B-B14F-4D97-AF65-F5344CB8AC3E}">
        <p14:creationId xmlns:p14="http://schemas.microsoft.com/office/powerpoint/2010/main" val="2856497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8CBCE-8A3D-8F00-1BC1-7794222D0F15}"/>
              </a:ext>
            </a:extLst>
          </p:cNvPr>
          <p:cNvSpPr>
            <a:spLocks noGrp="1"/>
          </p:cNvSpPr>
          <p:nvPr>
            <p:ph type="title"/>
          </p:nvPr>
        </p:nvSpPr>
        <p:spPr/>
        <p:txBody>
          <a:bodyPr/>
          <a:lstStyle/>
          <a:p>
            <a:pPr algn="ctr"/>
            <a:r>
              <a:rPr lang="en-US" dirty="0"/>
              <a:t>Dashboard Overview</a:t>
            </a:r>
            <a:endParaRPr lang="en-IN" dirty="0"/>
          </a:p>
        </p:txBody>
      </p:sp>
      <p:pic>
        <p:nvPicPr>
          <p:cNvPr id="5" name="Picture 4">
            <a:extLst>
              <a:ext uri="{FF2B5EF4-FFF2-40B4-BE49-F238E27FC236}">
                <a16:creationId xmlns:a16="http://schemas.microsoft.com/office/drawing/2014/main" id="{AE0A7153-185D-1B2D-18F6-6913603DF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283" y="2488450"/>
            <a:ext cx="6935677" cy="3884198"/>
          </a:xfrm>
          <a:prstGeom prst="rect">
            <a:avLst/>
          </a:prstGeom>
        </p:spPr>
      </p:pic>
      <p:sp>
        <p:nvSpPr>
          <p:cNvPr id="6" name="TextBox 5">
            <a:extLst>
              <a:ext uri="{FF2B5EF4-FFF2-40B4-BE49-F238E27FC236}">
                <a16:creationId xmlns:a16="http://schemas.microsoft.com/office/drawing/2014/main" id="{88F18A6E-A8ED-E145-6254-67ACC3C9BC57}"/>
              </a:ext>
            </a:extLst>
          </p:cNvPr>
          <p:cNvSpPr txBox="1"/>
          <p:nvPr/>
        </p:nvSpPr>
        <p:spPr>
          <a:xfrm>
            <a:off x="7813040" y="2488450"/>
            <a:ext cx="3887677" cy="1147494"/>
          </a:xfrm>
          <a:prstGeom prst="rect">
            <a:avLst/>
          </a:prstGeom>
          <a:noFill/>
        </p:spPr>
        <p:txBody>
          <a:bodyPr wrap="square" rtlCol="0">
            <a:spAutoFit/>
          </a:bodyPr>
          <a:lstStyle/>
          <a:p>
            <a:pPr>
              <a:lnSpc>
                <a:spcPts val="2799"/>
              </a:lnSpc>
            </a:pPr>
            <a:r>
              <a:rPr lang="en-US" dirty="0">
                <a:latin typeface="Telegraf"/>
                <a:ea typeface="Telegraf"/>
                <a:cs typeface="Telegraf"/>
                <a:sym typeface="Telegraf"/>
              </a:rPr>
              <a:t>The dashboard provides visual analytics to identify suspicious activities efficiently.</a:t>
            </a:r>
          </a:p>
        </p:txBody>
      </p:sp>
      <p:sp>
        <p:nvSpPr>
          <p:cNvPr id="4" name="Rectangle 3">
            <a:extLst>
              <a:ext uri="{FF2B5EF4-FFF2-40B4-BE49-F238E27FC236}">
                <a16:creationId xmlns:a16="http://schemas.microsoft.com/office/drawing/2014/main" id="{05250139-B9CE-1E60-CB33-24B0C57CDE70}"/>
              </a:ext>
            </a:extLst>
          </p:cNvPr>
          <p:cNvSpPr/>
          <p:nvPr/>
        </p:nvSpPr>
        <p:spPr>
          <a:xfrm>
            <a:off x="7904480" y="3850640"/>
            <a:ext cx="3796237" cy="24485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3F96838B-FD7B-06DC-0CCF-C3343CCB931D}"/>
              </a:ext>
            </a:extLst>
          </p:cNvPr>
          <p:cNvSpPr txBox="1"/>
          <p:nvPr/>
        </p:nvSpPr>
        <p:spPr>
          <a:xfrm>
            <a:off x="7985760" y="3850640"/>
            <a:ext cx="3714957" cy="2339102"/>
          </a:xfrm>
          <a:prstGeom prst="rect">
            <a:avLst/>
          </a:prstGeom>
          <a:noFill/>
        </p:spPr>
        <p:txBody>
          <a:bodyPr wrap="square" rtlCol="0">
            <a:spAutoFit/>
          </a:bodyPr>
          <a:lstStyle/>
          <a:p>
            <a:pPr algn="ctr"/>
            <a:r>
              <a:rPr lang="en-US" sz="2000" dirty="0"/>
              <a:t>Trends &amp; Forecasting</a:t>
            </a:r>
          </a:p>
          <a:p>
            <a:pPr marL="285750" indent="-285750">
              <a:buFont typeface="Arial" panose="020B0604020202020204" pitchFamily="34" charset="0"/>
              <a:buChar char="•"/>
            </a:pPr>
            <a:r>
              <a:rPr lang="en-US" dirty="0"/>
              <a:t>Cumulative Funded vs Received - Area chart to see if gap is widening</a:t>
            </a:r>
          </a:p>
          <a:p>
            <a:pPr marL="285750" indent="-285750">
              <a:buFont typeface="Arial" panose="020B0604020202020204" pitchFamily="34" charset="0"/>
              <a:buChar char="•"/>
            </a:pPr>
            <a:r>
              <a:rPr lang="en-US" dirty="0"/>
              <a:t>MoM Growth % next to "Total Loan Application by Month“</a:t>
            </a:r>
          </a:p>
          <a:p>
            <a:pPr marL="285750" indent="-285750">
              <a:buFont typeface="Arial" panose="020B0604020202020204" pitchFamily="34" charset="0"/>
              <a:buChar char="•"/>
            </a:pPr>
            <a:r>
              <a:rPr lang="en-US" dirty="0"/>
              <a:t>Forecast for next 3 months using the trend line</a:t>
            </a:r>
            <a:endParaRPr lang="en-IN" dirty="0"/>
          </a:p>
        </p:txBody>
      </p:sp>
    </p:spTree>
    <p:extLst>
      <p:ext uri="{BB962C8B-B14F-4D97-AF65-F5344CB8AC3E}">
        <p14:creationId xmlns:p14="http://schemas.microsoft.com/office/powerpoint/2010/main" val="3483814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A7EF2-1F98-8B7B-540C-8BB6E4B60349}"/>
              </a:ext>
            </a:extLst>
          </p:cNvPr>
          <p:cNvSpPr>
            <a:spLocks noGrp="1"/>
          </p:cNvSpPr>
          <p:nvPr>
            <p:ph type="title"/>
          </p:nvPr>
        </p:nvSpPr>
        <p:spPr/>
        <p:txBody>
          <a:bodyPr/>
          <a:lstStyle/>
          <a:p>
            <a:pPr algn="ctr"/>
            <a:r>
              <a:rPr lang="en-US" dirty="0"/>
              <a:t>Conclusion</a:t>
            </a:r>
            <a:endParaRPr lang="en-IN" dirty="0"/>
          </a:p>
        </p:txBody>
      </p:sp>
      <p:sp>
        <p:nvSpPr>
          <p:cNvPr id="3" name="Content Placeholder 2">
            <a:extLst>
              <a:ext uri="{FF2B5EF4-FFF2-40B4-BE49-F238E27FC236}">
                <a16:creationId xmlns:a16="http://schemas.microsoft.com/office/drawing/2014/main" id="{9199EEEF-AE54-D7E5-CBE4-A142D82CFBBC}"/>
              </a:ext>
            </a:extLst>
          </p:cNvPr>
          <p:cNvSpPr>
            <a:spLocks noGrp="1"/>
          </p:cNvSpPr>
          <p:nvPr>
            <p:ph idx="1"/>
          </p:nvPr>
        </p:nvSpPr>
        <p:spPr>
          <a:xfrm>
            <a:off x="416560" y="2551430"/>
            <a:ext cx="4785360" cy="3097530"/>
          </a:xfrm>
        </p:spPr>
        <p:txBody>
          <a:bodyPr>
            <a:normAutofit/>
          </a:bodyPr>
          <a:lstStyle/>
          <a:p>
            <a:pPr marL="0" indent="0">
              <a:buNone/>
            </a:pPr>
            <a:r>
              <a:rPr lang="en-IN" b="1" dirty="0">
                <a:latin typeface="Century Gothic" panose="020B0502020202020204" pitchFamily="34" charset="0"/>
                <a:cs typeface="Arial" panose="020B0604020202020204" pitchFamily="34" charset="0"/>
              </a:rPr>
              <a:t>The conclusion should summarize the overall portfolio health, distinguishing between "Good Loans" (fully paid/current) and "Bad Loans" (charged off/late). It must highlight actionable insights regarding borrower profiles and regional trends to mitigate risks and improve future lending strategies.</a:t>
            </a:r>
          </a:p>
        </p:txBody>
      </p:sp>
      <p:pic>
        <p:nvPicPr>
          <p:cNvPr id="5" name="Picture 4">
            <a:extLst>
              <a:ext uri="{FF2B5EF4-FFF2-40B4-BE49-F238E27FC236}">
                <a16:creationId xmlns:a16="http://schemas.microsoft.com/office/drawing/2014/main" id="{5F7F53C6-AD0D-5EDE-797B-520B67A48E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5920" y="2448560"/>
            <a:ext cx="5933440" cy="3311071"/>
          </a:xfrm>
          <a:prstGeom prst="rect">
            <a:avLst/>
          </a:prstGeom>
        </p:spPr>
      </p:pic>
    </p:spTree>
    <p:extLst>
      <p:ext uri="{BB962C8B-B14F-4D97-AF65-F5344CB8AC3E}">
        <p14:creationId xmlns:p14="http://schemas.microsoft.com/office/powerpoint/2010/main" val="3387411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A878AA-D4F4-59C3-140D-121E833E5BE9}"/>
              </a:ext>
            </a:extLst>
          </p:cNvPr>
          <p:cNvSpPr>
            <a:spLocks noGrp="1"/>
          </p:cNvSpPr>
          <p:nvPr>
            <p:ph type="title"/>
          </p:nvPr>
        </p:nvSpPr>
        <p:spPr>
          <a:xfrm>
            <a:off x="1154954" y="1143000"/>
            <a:ext cx="2685525" cy="609600"/>
          </a:xfrm>
        </p:spPr>
        <p:txBody>
          <a:bodyPr/>
          <a:lstStyle/>
          <a:p>
            <a:pPr algn="ctr"/>
            <a:r>
              <a:rPr lang="en-US" dirty="0"/>
              <a:t>Future Scope</a:t>
            </a:r>
            <a:endParaRPr lang="en-IN" dirty="0"/>
          </a:p>
        </p:txBody>
      </p:sp>
      <p:sp>
        <p:nvSpPr>
          <p:cNvPr id="6" name="Text Placeholder 5">
            <a:extLst>
              <a:ext uri="{FF2B5EF4-FFF2-40B4-BE49-F238E27FC236}">
                <a16:creationId xmlns:a16="http://schemas.microsoft.com/office/drawing/2014/main" id="{05DCEFC0-8F40-DD51-56C8-C2BC83A3C526}"/>
              </a:ext>
            </a:extLst>
          </p:cNvPr>
          <p:cNvSpPr>
            <a:spLocks noGrp="1"/>
          </p:cNvSpPr>
          <p:nvPr>
            <p:ph type="body" sz="half" idx="2"/>
          </p:nvPr>
        </p:nvSpPr>
        <p:spPr>
          <a:xfrm>
            <a:off x="914400" y="2103120"/>
            <a:ext cx="3718560" cy="3921759"/>
          </a:xfrm>
        </p:spPr>
        <p:txBody>
          <a:bodyPr>
            <a:normAutofit/>
          </a:bodyPr>
          <a:lstStyle/>
          <a:p>
            <a:r>
              <a:rPr lang="en-IN" sz="2000" dirty="0">
                <a:solidFill>
                  <a:schemeClr val="bg1"/>
                </a:solidFill>
              </a:rPr>
              <a:t>The future scope of a Bank Loan Analytics Dashboard in Power BI involves shifting from historical reporting to </a:t>
            </a:r>
            <a:r>
              <a:rPr lang="en-IN" sz="2000" b="1" dirty="0">
                <a:solidFill>
                  <a:schemeClr val="bg1"/>
                </a:solidFill>
              </a:rPr>
              <a:t>predictive risk </a:t>
            </a:r>
            <a:r>
              <a:rPr lang="en-IN" sz="2000" b="1" dirty="0" err="1">
                <a:solidFill>
                  <a:schemeClr val="bg1"/>
                </a:solidFill>
              </a:rPr>
              <a:t>modeling</a:t>
            </a:r>
            <a:r>
              <a:rPr lang="en-IN" sz="2000" dirty="0">
                <a:solidFill>
                  <a:schemeClr val="bg1"/>
                </a:solidFill>
              </a:rPr>
              <a:t>, </a:t>
            </a:r>
            <a:r>
              <a:rPr lang="en-IN" sz="2000" b="1" dirty="0">
                <a:solidFill>
                  <a:schemeClr val="bg1"/>
                </a:solidFill>
              </a:rPr>
              <a:t>real-time loan processing automation</a:t>
            </a:r>
            <a:r>
              <a:rPr lang="en-IN" sz="2000" dirty="0">
                <a:solidFill>
                  <a:schemeClr val="bg1"/>
                </a:solidFill>
              </a:rPr>
              <a:t>, and </a:t>
            </a:r>
            <a:r>
              <a:rPr lang="en-IN" sz="2000" b="1" dirty="0">
                <a:solidFill>
                  <a:schemeClr val="bg1"/>
                </a:solidFill>
              </a:rPr>
              <a:t>AI-driven customer segmentation</a:t>
            </a:r>
            <a:r>
              <a:rPr lang="en-IN" sz="2000" dirty="0">
                <a:solidFill>
                  <a:schemeClr val="bg1"/>
                </a:solidFill>
              </a:rPr>
              <a:t>. It will evolve from a simple overview into an active decision-making tool.</a:t>
            </a:r>
          </a:p>
        </p:txBody>
      </p:sp>
      <p:pic>
        <p:nvPicPr>
          <p:cNvPr id="8" name="Picture 7">
            <a:extLst>
              <a:ext uri="{FF2B5EF4-FFF2-40B4-BE49-F238E27FC236}">
                <a16:creationId xmlns:a16="http://schemas.microsoft.com/office/drawing/2014/main" id="{60EF1A43-B9FA-8E77-70B7-BC542F7E6E3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612450" y="1316036"/>
            <a:ext cx="5478145" cy="5064444"/>
          </a:xfrm>
          <a:prstGeom prst="rect">
            <a:avLst/>
          </a:prstGeom>
        </p:spPr>
      </p:pic>
    </p:spTree>
    <p:extLst>
      <p:ext uri="{BB962C8B-B14F-4D97-AF65-F5344CB8AC3E}">
        <p14:creationId xmlns:p14="http://schemas.microsoft.com/office/powerpoint/2010/main" val="2673455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FEE1B20-DDBA-6FD7-7E87-E83C43B9ED3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29328" y="1951736"/>
            <a:ext cx="7412736" cy="2316480"/>
          </a:xfrm>
          <a:prstGeom prst="rect">
            <a:avLst/>
          </a:prstGeom>
        </p:spPr>
      </p:pic>
      <p:pic>
        <p:nvPicPr>
          <p:cNvPr id="12" name="Picture 11">
            <a:extLst>
              <a:ext uri="{FF2B5EF4-FFF2-40B4-BE49-F238E27FC236}">
                <a16:creationId xmlns:a16="http://schemas.microsoft.com/office/drawing/2014/main" id="{27D9EB10-801A-1B7F-E223-73D14E0F678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49936" y="1504696"/>
            <a:ext cx="3933298" cy="2935224"/>
          </a:xfrm>
          <a:prstGeom prst="rect">
            <a:avLst/>
          </a:prstGeom>
        </p:spPr>
      </p:pic>
    </p:spTree>
    <p:extLst>
      <p:ext uri="{BB962C8B-B14F-4D97-AF65-F5344CB8AC3E}">
        <p14:creationId xmlns:p14="http://schemas.microsoft.com/office/powerpoint/2010/main" val="20415442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364</TotalTime>
  <Words>1047</Words>
  <Application>Microsoft Office PowerPoint</Application>
  <PresentationFormat>Widescreen</PresentationFormat>
  <Paragraphs>120</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Batang</vt:lpstr>
      <vt:lpstr>Arial</vt:lpstr>
      <vt:lpstr>Century Gothic</vt:lpstr>
      <vt:lpstr>Telegraf</vt:lpstr>
      <vt:lpstr>Wingdings</vt:lpstr>
      <vt:lpstr>Wingdings 3</vt:lpstr>
      <vt:lpstr>Ion Boardroom</vt:lpstr>
      <vt:lpstr>BANK LOAN ANALYTICS DASHBOARD</vt:lpstr>
      <vt:lpstr>Presentation Flow</vt:lpstr>
      <vt:lpstr>Introduction</vt:lpstr>
      <vt:lpstr>Project Objective</vt:lpstr>
      <vt:lpstr>Dataset Overview</vt:lpstr>
      <vt:lpstr>Data Cleaning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Dashboard Overview</vt:lpstr>
      <vt:lpstr>Conclusion</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Debasmita Pathak</dc:creator>
  <cp:lastModifiedBy>Debasmita Pathak</cp:lastModifiedBy>
  <cp:revision>1</cp:revision>
  <dcterms:created xsi:type="dcterms:W3CDTF">2026-07-15T15:56:18Z</dcterms:created>
  <dcterms:modified xsi:type="dcterms:W3CDTF">2026-07-17T06:21:56Z</dcterms:modified>
</cp:coreProperties>
</file>